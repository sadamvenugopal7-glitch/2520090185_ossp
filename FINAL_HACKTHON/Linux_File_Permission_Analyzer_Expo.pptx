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212fc0c-a06b-c42e-a2a5-188d4922990c}">
          <p14:sldIdLst>
            <p14:sldId id="256"/>
            <p14:sldId id="257"/>
            <p14:sldId id="258"/>
          </p14:sldIdLst>
        </p14:section>
        <p14:section name="System" id="{0a3ef0bc-9a65-acd6-1673-5c326fa63261}">
          <p14:sldIdLst>
            <p14:sldId id="259"/>
            <p14:sldId id="260"/>
            <p14:sldId id="261"/>
          </p14:sldIdLst>
        </p14:section>
        <p14:section name="Outcome" id="{5fb56305-4bd8-e213-6f82-068afbfef0af}">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Abhishek, Venu Gopal and Rohit from CSIT, KLH. Our project is the Linux File Permission Analyzer, a tool that inspects Linux file permissions and points out settings that may be risky. The terminal on the right is only an illustration of the idea: it shows three files with different permissions and how they could be labelled by severity.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 decides who can read, write and execute every file using permissions. If they are set wrongly, other users may be able to change or read files they should not. Checking each file by hand takes time. On the right, 600 means only the owner can read and write, while 777 gives everyone full access. Important point: 777 is not automatically wrong for every file. Whether a permission is risky depends on what the file is for and the environment it is used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has seven objectives. Analyze permissions of files and directories. Display them in both symbolic form, like rwxr-xr-x, and octal form, like 755. Detect settings that may be insecure. Classify each finding by severity. Give clear recommendations. Scan folders including nested files. And generate readable reports. In short: inspect, detect and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system works, following the arrows. The user gives a file or folder path through the terminal. The program first checks that the path is valid. Then it collects file metadata from Linux, decodes the permission bits, and applies predefined security rules. Each finding gets a severity: Low, Medium or High. The results are shown with recommendations and can be saved as a text or HTML report. We build it with C on Ubuntu, using POSIX system calls, the GCC compiler, and Git and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look at the tools. C is used for the core logic. The program runs on Ubuntu. stat() and lstat() read file metadata, and lstat() lets us deal with symbolic links without blindly following them. opendir() and readdir() let us walk through directories. GCC compiles the code and Git and GitHub manage versions. On the right is a permission example: -rwxr-xr-x. The first dash means a regular file. Owner has rwx, which is 4+2+1 = 7. Group and Others have r-x, which is 4+0+1 = 5. So the octal value is 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plan: open the analyzer, create three sample files, then use chmod to give them different permissions. 644: owner can read and write, group and others can only read. 600: only the owner can read and write. 777: owner, group and others can read, write and execute. Then scan the demo_files folder, show the permission details, point out which settings are potentially risky, and generate a report. Remember to say that these are examples to show how permissions behave. The right permission always depends on what the file is used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lists our test cases and what we expect to observe. It covers normal, private, executable, broad and restricted permissions, plus two error cases: a missing path and a symbolic link. These are expected observations from our test plan. We are not claiming measured results or success percentages. If you have run the tests, replace the expected column with what you actually observed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the tool makes permission inspection simpler, helps spot potentially insecure settings, saves time compared with checking files one by one, produces reports, and helps students learn Linux permissions. Limitations, stated honestly: it uses predefined rules, it is not a replacement for a professional security audit, it cannot find every vulnerability, risk depends on ownership and purpose, and it does not change permissions on its own. It is a helper for reviewing permissions, not a final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Abhishek worked on file metadata collection and permission analysis. Venu Gopal worked on the security rules, severity classification and putting the application together. Rohit worked on directory scanning, testing, reporting and documentation. Although each of us led one part, all three of us understand the full architecture and can answer questions on any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Linux File Permission Analyzer is designed to help users inspect permissions, spot potentially risky configurations and understand what to do next. In future we would like to improve the rule engine, export HTML reports, add a graphical interface, analyze ownership in more detail, allow configurable policies, connect to automated testing, and optionally suggest permission corrections.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LAYOU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_LAYOU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6583680" cy="2377440"/>
          </a:xfrm>
          <a:prstGeom prst="rect">
            <a:avLst/>
          </a:prstGeom>
          <a:noFill/>
          <a:ln/>
        </p:spPr>
        <p:txBody>
          <a:bodyPr wrap="square" rtlCol="0"/>
          <a:lstStyle>
            <a:lvl1pPr algn="l" indent="0" marL="0">
              <a:buNone/>
              <a:defRPr lang="en-US" sz="52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5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200" dirty="0">
                <a:solidFill>
                  <a:srgbClr val="A9B8D6"/>
                </a:solidFill>
                <a:latin typeface="Calibri" pitchFamily="34" charset="0"/>
                <a:ea typeface="Calibri" pitchFamily="34" charset="-122"/>
                <a:cs typeface="Calibri" pitchFamily="34" charset="-120"/>
              </a:rPr>
              <a:t>Linux File Permission Analyzer  |  KLH CSIT  |  Hackathon Expo 2026</a:t>
            </a:r>
            <a:endParaRPr lang="en-US" sz="1200" dirty="0"/>
          </a:p>
        </p:txBody>
      </p:sp>
      <p:sp>
        <p:nvSpPr>
          <p:cNvPr id="3" name="Text 1"/>
          <p:cNvSpPr/>
          <p:nvPr>
            <p:ph idx="101" type="title" hasCustomPrompt="1"/>
          </p:nvPr>
        </p:nvSpPr>
        <p:spPr>
          <a:xfrm>
            <a:off x="548640" y="320040"/>
            <a:ext cx="11091672" cy="777240"/>
          </a:xfrm>
          <a:prstGeom prst="rect">
            <a:avLst/>
          </a:prstGeom>
          <a:noFill/>
          <a:ln/>
        </p:spPr>
        <p:txBody>
          <a:bodyPr wrap="square" rtlCol="0"/>
          <a:lstStyle>
            <a:lvl1pPr algn="l" indent="0" marL="0">
              <a:buNone/>
              <a:defRPr lang="en-US" sz="34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9B8D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9B8D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3.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
          <p:cNvSpPr/>
          <p:nvPr/>
        </p:nvSpPr>
        <p:spPr>
          <a:xfrm>
            <a:off x="548640" y="411480"/>
            <a:ext cx="2651760" cy="384048"/>
          </a:xfrm>
          <a:prstGeom prst="roundRect">
            <a:avLst>
              <a:gd name="adj" fmla="val 23810"/>
            </a:avLst>
          </a:prstGeom>
          <a:solidFill>
            <a:srgbClr val="111B3A"/>
          </a:solidFill>
          <a:ln w="12700">
            <a:solidFill>
              <a:srgbClr val="00B4FF"/>
            </a:solidFill>
          </a:ln>
        </p:spPr>
        <p:txBody>
          <a:bodyPr wrap="square" lIns="0" tIns="0" rIns="0" bIns="0" rtlCol="0" anchor="ctr"/>
          <a:lstStyle/>
          <a:p>
            <a:pPr algn="ctr" indent="0" marL="0">
              <a:buNone/>
            </a:pPr>
            <a:r>
              <a:rPr lang="en-US" sz="1400" b="1" dirty="0">
                <a:solidFill>
                  <a:srgbClr val="00B4FF"/>
                </a:solidFill>
                <a:latin typeface="Calibri" pitchFamily="34" charset="0"/>
                <a:ea typeface="Calibri" pitchFamily="34" charset="-122"/>
                <a:cs typeface="Calibri" pitchFamily="34" charset="-120"/>
              </a:rPr>
              <a:t>HACKATHON EXPO 2026</a:t>
            </a:r>
            <a:endParaRPr lang="en-US" sz="1400" dirty="0"/>
          </a:p>
        </p:txBody>
      </p:sp>
      <p:sp>
        <p:nvSpPr>
          <p:cNvPr id="3" name="Text 0"/>
          <p:cNvSpPr/>
          <p:nvPr>
            <p:ph idx="100" type="title" hasCustomPrompt="1"/>
          </p:nvPr>
        </p:nvSpPr>
        <p:spPr>
          <a:xfrm>
            <a:off x="548640" y="960120"/>
            <a:ext cx="6583680" cy="2377440"/>
          </a:xfrm>
          <a:prstGeom prst="rect">
            <a:avLst/>
          </a:prstGeom>
          <a:noFill/>
          <a:ln/>
        </p:spPr>
        <p:txBody>
          <a:bodyPr wrap="square" lIns="0" tIns="0" rIns="0" bIns="0" rtlCol="0" anchor="t"/>
          <a:lstStyle/>
          <a:p>
            <a:pPr algn="l" indent="0" marL="0">
              <a:buNone/>
            </a:pPr>
            <a:r>
              <a:rPr lang="en-US" sz="5200" b="1" dirty="0">
                <a:solidFill>
                  <a:srgbClr val="FFFFFF"/>
                </a:solidFill>
                <a:latin typeface="Calibri" pitchFamily="34" charset="0"/>
                <a:ea typeface="Calibri" pitchFamily="34" charset="-122"/>
                <a:cs typeface="Calibri" pitchFamily="34" charset="-120"/>
              </a:rPr>
              <a:t>LINUX FILE</a:t>
            </a:r>
            <a:endParaRPr lang="en-US" sz="5200" dirty="0"/>
          </a:p>
          <a:p>
            <a:pPr algn="l" indent="0" marL="0">
              <a:buNone/>
            </a:pPr>
            <a:r>
              <a:rPr lang="en-US" sz="5200" b="1" dirty="0">
                <a:solidFill>
                  <a:srgbClr val="FFFFFF"/>
                </a:solidFill>
                <a:latin typeface="Calibri" pitchFamily="34" charset="0"/>
                <a:ea typeface="Calibri" pitchFamily="34" charset="-122"/>
                <a:cs typeface="Calibri" pitchFamily="34" charset="-120"/>
              </a:rPr>
              <a:t>PERMISSION</a:t>
            </a:r>
            <a:endParaRPr lang="en-US" sz="5200" dirty="0"/>
          </a:p>
          <a:p>
            <a:pPr algn="l" indent="0" marL="0">
              <a:buNone/>
            </a:pPr>
            <a:r>
              <a:rPr lang="en-US" sz="5200" b="1" dirty="0">
                <a:solidFill>
                  <a:srgbClr val="00B4FF"/>
                </a:solidFill>
                <a:latin typeface="Calibri" pitchFamily="34" charset="0"/>
                <a:ea typeface="Calibri" pitchFamily="34" charset="-122"/>
                <a:cs typeface="Calibri" pitchFamily="34" charset="-120"/>
              </a:rPr>
              <a:t>ANALYZER</a:t>
            </a:r>
            <a:endParaRPr lang="en-US" sz="5200" dirty="0"/>
          </a:p>
        </p:txBody>
      </p:sp>
      <p:sp>
        <p:nvSpPr>
          <p:cNvPr id="4" name="Text 2"/>
          <p:cNvSpPr txBox="1"/>
          <p:nvPr/>
        </p:nvSpPr>
        <p:spPr>
          <a:xfrm>
            <a:off x="548640" y="3429000"/>
            <a:ext cx="6400800" cy="777240"/>
          </a:xfrm>
          <a:prstGeom prst="rect">
            <a:avLst/>
          </a:prstGeom>
          <a:noFill/>
          <a:ln/>
        </p:spPr>
        <p:txBody>
          <a:bodyPr wrap="square" lIns="0" tIns="0" rIns="0" bIns="0" rtlCol="0" anchor="t"/>
          <a:lstStyle/>
          <a:p>
            <a:pPr indent="0" marL="0">
              <a:buNone/>
            </a:pPr>
            <a:r>
              <a:rPr lang="en-US" sz="2000" dirty="0">
                <a:solidFill>
                  <a:srgbClr val="A9B8D6"/>
                </a:solidFill>
                <a:latin typeface="Calibri" pitchFamily="34" charset="0"/>
                <a:ea typeface="Calibri" pitchFamily="34" charset="-122"/>
                <a:cs typeface="Calibri" pitchFamily="34" charset="-120"/>
              </a:rPr>
              <a:t>A Linux-Based Tool for Identifying Potential File Permission Risks</a:t>
            </a:r>
            <a:endParaRPr lang="en-US" sz="2000" dirty="0"/>
          </a:p>
        </p:txBody>
      </p:sp>
      <p:sp>
        <p:nvSpPr>
          <p:cNvPr id="5" name="Chip"/>
          <p:cNvSpPr/>
          <p:nvPr/>
        </p:nvSpPr>
        <p:spPr>
          <a:xfrm>
            <a:off x="548640" y="4343400"/>
            <a:ext cx="2011680" cy="411480"/>
          </a:xfrm>
          <a:prstGeom prst="roundRect">
            <a:avLst>
              <a:gd name="adj" fmla="val 22222"/>
            </a:avLst>
          </a:prstGeom>
          <a:solidFill>
            <a:srgbClr val="0E3A6E"/>
          </a:solidFill>
          <a:ln w="12700">
            <a:solidFill>
              <a:srgbClr val="00B4FF"/>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17 October 2026</a:t>
            </a:r>
            <a:endParaRPr lang="en-US" sz="1600" dirty="0"/>
          </a:p>
        </p:txBody>
      </p:sp>
      <p:sp>
        <p:nvSpPr>
          <p:cNvPr id="6" name="Chip"/>
          <p:cNvSpPr/>
          <p:nvPr/>
        </p:nvSpPr>
        <p:spPr>
          <a:xfrm>
            <a:off x="2697480" y="4343400"/>
            <a:ext cx="1737360" cy="411480"/>
          </a:xfrm>
          <a:prstGeom prst="roundRect">
            <a:avLst>
              <a:gd name="adj" fmla="val 22222"/>
            </a:avLst>
          </a:prstGeom>
          <a:solidFill>
            <a:srgbClr val="0E3A6E"/>
          </a:solidFill>
          <a:ln w="12700">
            <a:solidFill>
              <a:srgbClr val="00B4FF"/>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College: KLH</a:t>
            </a:r>
            <a:endParaRPr lang="en-US" sz="1600" dirty="0"/>
          </a:p>
        </p:txBody>
      </p:sp>
      <p:sp>
        <p:nvSpPr>
          <p:cNvPr id="7" name="Chip"/>
          <p:cNvSpPr/>
          <p:nvPr/>
        </p:nvSpPr>
        <p:spPr>
          <a:xfrm>
            <a:off x="4572000" y="4343400"/>
            <a:ext cx="2286000" cy="411480"/>
          </a:xfrm>
          <a:prstGeom prst="roundRect">
            <a:avLst>
              <a:gd name="adj" fmla="val 22222"/>
            </a:avLst>
          </a:prstGeom>
          <a:solidFill>
            <a:srgbClr val="0E3A6E"/>
          </a:solidFill>
          <a:ln w="12700">
            <a:solidFill>
              <a:srgbClr val="00B4FF"/>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Department: CSIT</a:t>
            </a:r>
            <a:endParaRPr lang="en-US" sz="1600" dirty="0"/>
          </a:p>
        </p:txBody>
      </p:sp>
      <p:sp>
        <p:nvSpPr>
          <p:cNvPr id="8" name="Text 6"/>
          <p:cNvSpPr txBox="1"/>
          <p:nvPr/>
        </p:nvSpPr>
        <p:spPr>
          <a:xfrm>
            <a:off x="548640" y="5029200"/>
            <a:ext cx="2743200" cy="274320"/>
          </a:xfrm>
          <a:prstGeom prst="rect">
            <a:avLst/>
          </a:prstGeom>
          <a:noFill/>
          <a:ln/>
        </p:spPr>
        <p:txBody>
          <a:bodyPr wrap="square" lIns="0" tIns="0" rIns="0" bIns="0" rtlCol="0" anchor="ctr"/>
          <a:lstStyle/>
          <a:p>
            <a:pPr indent="0" marL="0">
              <a:buNone/>
            </a:pPr>
            <a:r>
              <a:rPr lang="en-US" sz="1200" b="1" dirty="0">
                <a:solidFill>
                  <a:srgbClr val="00B4FF"/>
                </a:solidFill>
                <a:latin typeface="Calibri" pitchFamily="34" charset="0"/>
                <a:ea typeface="Calibri" pitchFamily="34" charset="-122"/>
                <a:cs typeface="Calibri" pitchFamily="34" charset="-120"/>
              </a:rPr>
              <a:t>TEAM MEMBERS</a:t>
            </a:r>
            <a:endParaRPr lang="en-US" sz="1200" dirty="0"/>
          </a:p>
        </p:txBody>
      </p:sp>
      <p:sp>
        <p:nvSpPr>
          <p:cNvPr id="9" name="Text 7"/>
          <p:cNvSpPr txBox="1"/>
          <p:nvPr/>
        </p:nvSpPr>
        <p:spPr>
          <a:xfrm>
            <a:off x="548640" y="5303520"/>
            <a:ext cx="6400800" cy="1005840"/>
          </a:xfrm>
          <a:prstGeom prst="rect">
            <a:avLst/>
          </a:prstGeom>
          <a:noFill/>
          <a:ln/>
        </p:spPr>
        <p:txBody>
          <a:bodyPr wrap="square" lIns="0" tIns="0" rIns="0" bIns="0" rtlCol="0" anchor="t"/>
          <a:lstStyle/>
          <a:p>
            <a:pPr indent="0" marL="0">
              <a:spcAft>
                <a:spcPts val="200"/>
              </a:spcAft>
              <a:buNone/>
            </a:pPr>
            <a:r>
              <a:rPr lang="en-US" sz="1600" b="1" dirty="0">
                <a:solidFill>
                  <a:srgbClr val="FFFFFF"/>
                </a:solidFill>
                <a:latin typeface="Calibri" pitchFamily="34" charset="0"/>
                <a:ea typeface="Calibri" pitchFamily="34" charset="-122"/>
                <a:cs typeface="Calibri" pitchFamily="34" charset="-120"/>
              </a:rPr>
              <a:t>Abhishek Yadav K</a:t>
            </a:r>
            <a:pPr indent="0" marL="0">
              <a:spcAft>
                <a:spcPts val="200"/>
              </a:spcAft>
              <a:buNone/>
            </a:pPr>
            <a:r>
              <a:rPr lang="en-US" sz="1600" dirty="0">
                <a:solidFill>
                  <a:srgbClr val="00B4FF"/>
                </a:solidFill>
                <a:latin typeface="Calibri" pitchFamily="34" charset="0"/>
                <a:ea typeface="Calibri" pitchFamily="34" charset="-122"/>
                <a:cs typeface="Calibri" pitchFamily="34" charset="-120"/>
              </a:rPr>
              <a:t>  —  2520090208</a:t>
            </a:r>
            <a:endParaRPr lang="en-US" sz="1600" dirty="0"/>
          </a:p>
          <a:p>
            <a:pPr indent="0" marL="0">
              <a:spcAft>
                <a:spcPts val="200"/>
              </a:spcAft>
              <a:buNone/>
            </a:pPr>
            <a:r>
              <a:rPr lang="en-US" sz="1600" b="1" dirty="0">
                <a:solidFill>
                  <a:srgbClr val="FFFFFF"/>
                </a:solidFill>
                <a:latin typeface="Calibri" pitchFamily="34" charset="0"/>
                <a:ea typeface="Calibri" pitchFamily="34" charset="-122"/>
                <a:cs typeface="Calibri" pitchFamily="34" charset="-120"/>
              </a:rPr>
              <a:t>S Venu Gopal</a:t>
            </a:r>
            <a:pPr indent="0" marL="0">
              <a:spcAft>
                <a:spcPts val="200"/>
              </a:spcAft>
              <a:buNone/>
            </a:pPr>
            <a:r>
              <a:rPr lang="en-US" sz="1600" dirty="0">
                <a:solidFill>
                  <a:srgbClr val="00B4FF"/>
                </a:solidFill>
                <a:latin typeface="Calibri" pitchFamily="34" charset="0"/>
                <a:ea typeface="Calibri" pitchFamily="34" charset="-122"/>
                <a:cs typeface="Calibri" pitchFamily="34" charset="-120"/>
              </a:rPr>
              <a:t>  —  2520090185</a:t>
            </a:r>
            <a:endParaRPr lang="en-US" sz="1600" dirty="0"/>
          </a:p>
          <a:p>
            <a:pPr indent="0" marL="0">
              <a:spcAft>
                <a:spcPts val="200"/>
              </a:spcAft>
              <a:buNone/>
            </a:pPr>
            <a:r>
              <a:rPr lang="en-US" sz="1600" b="1" dirty="0">
                <a:solidFill>
                  <a:srgbClr val="FFFFFF"/>
                </a:solidFill>
                <a:latin typeface="Calibri" pitchFamily="34" charset="0"/>
                <a:ea typeface="Calibri" pitchFamily="34" charset="-122"/>
                <a:cs typeface="Calibri" pitchFamily="34" charset="-120"/>
              </a:rPr>
              <a:t>R ROHIT</a:t>
            </a:r>
            <a:pPr indent="0" marL="0">
              <a:spcAft>
                <a:spcPts val="200"/>
              </a:spcAft>
              <a:buNone/>
            </a:pPr>
            <a:r>
              <a:rPr lang="en-US" sz="1600" dirty="0">
                <a:solidFill>
                  <a:srgbClr val="00B4FF"/>
                </a:solidFill>
                <a:latin typeface="Calibri" pitchFamily="34" charset="0"/>
                <a:ea typeface="Calibri" pitchFamily="34" charset="-122"/>
                <a:cs typeface="Calibri" pitchFamily="34" charset="-120"/>
              </a:rPr>
              <a:t>  —  2520080037</a:t>
            </a:r>
            <a:endParaRPr lang="en-US" sz="1600" dirty="0"/>
          </a:p>
        </p:txBody>
      </p:sp>
      <p:sp>
        <p:nvSpPr>
          <p:cNvPr id="10" name="Terminal window"/>
          <p:cNvSpPr/>
          <p:nvPr/>
        </p:nvSpPr>
        <p:spPr>
          <a:xfrm>
            <a:off x="7315200" y="1097280"/>
            <a:ext cx="4343400" cy="3291840"/>
          </a:xfrm>
          <a:prstGeom prst="rect">
            <a:avLst/>
          </a:prstGeom>
          <a:solidFill>
            <a:srgbClr val="070D1E"/>
          </a:solidFill>
          <a:ln w="19050">
            <a:solidFill>
              <a:srgbClr val="00B4FF"/>
            </a:solidFill>
            <a:prstDash val="solid"/>
          </a:ln>
        </p:spPr>
      </p:sp>
      <p:sp>
        <p:nvSpPr>
          <p:cNvPr id="11" name="Terminal title bar"/>
          <p:cNvSpPr/>
          <p:nvPr/>
        </p:nvSpPr>
        <p:spPr>
          <a:xfrm>
            <a:off x="7315200" y="1097280"/>
            <a:ext cx="4343400" cy="365760"/>
          </a:xfrm>
          <a:prstGeom prst="rect">
            <a:avLst/>
          </a:prstGeom>
          <a:solidFill>
            <a:srgbClr val="1B2A55"/>
          </a:solidFill>
          <a:ln w="19050">
            <a:solidFill>
              <a:srgbClr val="00B4FF"/>
            </a:solidFill>
            <a:prstDash val="solid"/>
          </a:ln>
        </p:spPr>
      </p:sp>
      <p:sp>
        <p:nvSpPr>
          <p:cNvPr id="12" name="Window dot"/>
          <p:cNvSpPr/>
          <p:nvPr/>
        </p:nvSpPr>
        <p:spPr>
          <a:xfrm>
            <a:off x="7498080" y="1197864"/>
            <a:ext cx="164592" cy="164592"/>
          </a:xfrm>
          <a:prstGeom prst="ellipse">
            <a:avLst/>
          </a:prstGeom>
          <a:solidFill>
            <a:srgbClr val="EF4444"/>
          </a:solidFill>
          <a:ln w="6350">
            <a:solidFill>
              <a:srgbClr val="EF4444"/>
            </a:solidFill>
            <a:prstDash val="solid"/>
          </a:ln>
        </p:spPr>
      </p:sp>
      <p:sp>
        <p:nvSpPr>
          <p:cNvPr id="13" name="Window dot"/>
          <p:cNvSpPr/>
          <p:nvPr/>
        </p:nvSpPr>
        <p:spPr>
          <a:xfrm>
            <a:off x="7726680" y="1197864"/>
            <a:ext cx="164592" cy="164592"/>
          </a:xfrm>
          <a:prstGeom prst="ellipse">
            <a:avLst/>
          </a:prstGeom>
          <a:solidFill>
            <a:srgbClr val="F59E0B"/>
          </a:solidFill>
          <a:ln w="6350">
            <a:solidFill>
              <a:srgbClr val="F59E0B"/>
            </a:solidFill>
            <a:prstDash val="solid"/>
          </a:ln>
        </p:spPr>
      </p:sp>
      <p:sp>
        <p:nvSpPr>
          <p:cNvPr id="14" name="Window dot"/>
          <p:cNvSpPr/>
          <p:nvPr/>
        </p:nvSpPr>
        <p:spPr>
          <a:xfrm>
            <a:off x="7955280" y="1197864"/>
            <a:ext cx="164592" cy="164592"/>
          </a:xfrm>
          <a:prstGeom prst="ellipse">
            <a:avLst/>
          </a:prstGeom>
          <a:solidFill>
            <a:srgbClr val="22C55E"/>
          </a:solidFill>
          <a:ln w="6350">
            <a:solidFill>
              <a:srgbClr val="22C55E"/>
            </a:solidFill>
            <a:prstDash val="solid"/>
          </a:ln>
        </p:spPr>
      </p:sp>
      <p:sp>
        <p:nvSpPr>
          <p:cNvPr id="15" name="Text 13"/>
          <p:cNvSpPr txBox="1"/>
          <p:nvPr/>
        </p:nvSpPr>
        <p:spPr>
          <a:xfrm>
            <a:off x="8321040" y="1143000"/>
            <a:ext cx="3108960" cy="274320"/>
          </a:xfrm>
          <a:prstGeom prst="rect">
            <a:avLst/>
          </a:prstGeom>
          <a:noFill/>
          <a:ln/>
        </p:spPr>
        <p:txBody>
          <a:bodyPr wrap="square" lIns="0" tIns="0" rIns="0" bIns="0" rtlCol="0" anchor="ctr"/>
          <a:lstStyle/>
          <a:p>
            <a:pPr algn="r" indent="0" marL="0">
              <a:buNone/>
            </a:pPr>
            <a:r>
              <a:rPr lang="en-US" sz="1200" dirty="0">
                <a:solidFill>
                  <a:srgbClr val="A9B8D6"/>
                </a:solidFill>
                <a:latin typeface="Calibri" pitchFamily="34" charset="0"/>
                <a:ea typeface="Calibri" pitchFamily="34" charset="-122"/>
                <a:cs typeface="Calibri" pitchFamily="34" charset="-120"/>
              </a:rPr>
              <a:t>bash — demo_files</a:t>
            </a:r>
            <a:endParaRPr lang="en-US" sz="1200" dirty="0"/>
          </a:p>
        </p:txBody>
      </p:sp>
      <p:sp>
        <p:nvSpPr>
          <p:cNvPr id="16" name="Text 14"/>
          <p:cNvSpPr txBox="1"/>
          <p:nvPr/>
        </p:nvSpPr>
        <p:spPr>
          <a:xfrm>
            <a:off x="7498080" y="1645920"/>
            <a:ext cx="3931920" cy="320040"/>
          </a:xfrm>
          <a:prstGeom prst="rect">
            <a:avLst/>
          </a:prstGeom>
          <a:noFill/>
          <a:ln/>
        </p:spPr>
        <p:txBody>
          <a:bodyPr wrap="square" lIns="0" tIns="0" rIns="0" bIns="0" rtlCol="0" anchor="ctr"/>
          <a:lstStyle/>
          <a:p>
            <a:pPr indent="0" marL="0">
              <a:buNone/>
            </a:pPr>
            <a:r>
              <a:rPr lang="en-US" sz="1400" dirty="0">
                <a:solidFill>
                  <a:srgbClr val="22C55E"/>
                </a:solidFill>
                <a:latin typeface="Courier New" pitchFamily="34" charset="0"/>
                <a:ea typeface="Courier New" pitchFamily="34" charset="-122"/>
                <a:cs typeface="Courier New" pitchFamily="34" charset="-120"/>
              </a:rPr>
              <a:t>$ </a:t>
            </a:r>
            <a:pPr indent="0" marL="0">
              <a:buNone/>
            </a:pPr>
            <a:r>
              <a:rPr lang="en-US" sz="1400" dirty="0">
                <a:solidFill>
                  <a:srgbClr val="FFFFFF"/>
                </a:solidFill>
                <a:latin typeface="Courier New" pitchFamily="34" charset="0"/>
                <a:ea typeface="Courier New" pitchFamily="34" charset="-122"/>
                <a:cs typeface="Courier New" pitchFamily="34" charset="-120"/>
              </a:rPr>
              <a:t>ls -l demo_files</a:t>
            </a:r>
            <a:endParaRPr lang="en-US" sz="1400" dirty="0"/>
          </a:p>
        </p:txBody>
      </p:sp>
      <p:sp>
        <p:nvSpPr>
          <p:cNvPr id="17" name="Text 15"/>
          <p:cNvSpPr txBox="1"/>
          <p:nvPr/>
        </p:nvSpPr>
        <p:spPr>
          <a:xfrm>
            <a:off x="7498080" y="2148840"/>
            <a:ext cx="2743200" cy="32004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-rw-r--r--  normal.txt</a:t>
            </a:r>
            <a:endParaRPr lang="en-US" sz="1400" dirty="0"/>
          </a:p>
        </p:txBody>
      </p:sp>
      <p:sp>
        <p:nvSpPr>
          <p:cNvPr id="18" name="Chip"/>
          <p:cNvSpPr/>
          <p:nvPr/>
        </p:nvSpPr>
        <p:spPr>
          <a:xfrm>
            <a:off x="10515600" y="2176272"/>
            <a:ext cx="914400" cy="274320"/>
          </a:xfrm>
          <a:prstGeom prst="roundRect">
            <a:avLst>
              <a:gd name="adj" fmla="val 33333"/>
            </a:avLst>
          </a:prstGeom>
          <a:solidFill>
            <a:srgbClr val="22C55E"/>
          </a:solidFill>
          <a:ln w="12700">
            <a:solidFill>
              <a:srgbClr val="22C55E"/>
            </a:solidFill>
          </a:ln>
        </p:spPr>
        <p:txBody>
          <a:bodyPr wrap="square" lIns="0" tIns="0" rIns="0" bIns="0" rtlCol="0" anchor="ctr"/>
          <a:lstStyle/>
          <a:p>
            <a:pPr algn="ctr" indent="0" marL="0">
              <a:buNone/>
            </a:pPr>
            <a:r>
              <a:rPr lang="en-US" sz="1200" b="1" dirty="0">
                <a:solidFill>
                  <a:srgbClr val="0A1128"/>
                </a:solidFill>
                <a:latin typeface="Calibri" pitchFamily="34" charset="0"/>
                <a:ea typeface="Calibri" pitchFamily="34" charset="-122"/>
                <a:cs typeface="Calibri" pitchFamily="34" charset="-120"/>
              </a:rPr>
              <a:t>LOW</a:t>
            </a:r>
            <a:endParaRPr lang="en-US" sz="1200" dirty="0"/>
          </a:p>
        </p:txBody>
      </p:sp>
      <p:sp>
        <p:nvSpPr>
          <p:cNvPr id="19" name="Text 17"/>
          <p:cNvSpPr txBox="1"/>
          <p:nvPr/>
        </p:nvSpPr>
        <p:spPr>
          <a:xfrm>
            <a:off x="7498080" y="2606040"/>
            <a:ext cx="2743200" cy="32004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-rw-------  private.txt</a:t>
            </a:r>
            <a:endParaRPr lang="en-US" sz="1400" dirty="0"/>
          </a:p>
        </p:txBody>
      </p:sp>
      <p:sp>
        <p:nvSpPr>
          <p:cNvPr id="20" name="Chip"/>
          <p:cNvSpPr/>
          <p:nvPr/>
        </p:nvSpPr>
        <p:spPr>
          <a:xfrm>
            <a:off x="10515600" y="2633472"/>
            <a:ext cx="914400" cy="274320"/>
          </a:xfrm>
          <a:prstGeom prst="roundRect">
            <a:avLst>
              <a:gd name="adj" fmla="val 33333"/>
            </a:avLst>
          </a:prstGeom>
          <a:solidFill>
            <a:srgbClr val="22C55E"/>
          </a:solidFill>
          <a:ln w="12700">
            <a:solidFill>
              <a:srgbClr val="22C55E"/>
            </a:solidFill>
          </a:ln>
        </p:spPr>
        <p:txBody>
          <a:bodyPr wrap="square" lIns="0" tIns="0" rIns="0" bIns="0" rtlCol="0" anchor="ctr"/>
          <a:lstStyle/>
          <a:p>
            <a:pPr algn="ctr" indent="0" marL="0">
              <a:buNone/>
            </a:pPr>
            <a:r>
              <a:rPr lang="en-US" sz="1200" b="1" dirty="0">
                <a:solidFill>
                  <a:srgbClr val="0A1128"/>
                </a:solidFill>
                <a:latin typeface="Calibri" pitchFamily="34" charset="0"/>
                <a:ea typeface="Calibri" pitchFamily="34" charset="-122"/>
                <a:cs typeface="Calibri" pitchFamily="34" charset="-120"/>
              </a:rPr>
              <a:t>LOW</a:t>
            </a:r>
            <a:endParaRPr lang="en-US" sz="1200" dirty="0"/>
          </a:p>
        </p:txBody>
      </p:sp>
      <p:sp>
        <p:nvSpPr>
          <p:cNvPr id="21" name="Text 19"/>
          <p:cNvSpPr txBox="1"/>
          <p:nvPr/>
        </p:nvSpPr>
        <p:spPr>
          <a:xfrm>
            <a:off x="7498080" y="3063240"/>
            <a:ext cx="2743200" cy="320040"/>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-rwxrwxrwx  risky.txt</a:t>
            </a:r>
            <a:endParaRPr lang="en-US" sz="1400" dirty="0"/>
          </a:p>
        </p:txBody>
      </p:sp>
      <p:sp>
        <p:nvSpPr>
          <p:cNvPr id="22" name="Chip"/>
          <p:cNvSpPr/>
          <p:nvPr/>
        </p:nvSpPr>
        <p:spPr>
          <a:xfrm>
            <a:off x="10515600" y="3090672"/>
            <a:ext cx="914400" cy="274320"/>
          </a:xfrm>
          <a:prstGeom prst="roundRect">
            <a:avLst>
              <a:gd name="adj" fmla="val 33333"/>
            </a:avLst>
          </a:prstGeom>
          <a:solidFill>
            <a:srgbClr val="EF4444"/>
          </a:solidFill>
          <a:ln w="12700">
            <a:solidFill>
              <a:srgbClr val="EF444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HIGH</a:t>
            </a:r>
            <a:endParaRPr lang="en-US" sz="1200" dirty="0"/>
          </a:p>
        </p:txBody>
      </p:sp>
      <p:sp>
        <p:nvSpPr>
          <p:cNvPr id="23" name="Text 21"/>
          <p:cNvSpPr txBox="1"/>
          <p:nvPr/>
        </p:nvSpPr>
        <p:spPr>
          <a:xfrm>
            <a:off x="7498080" y="3611880"/>
            <a:ext cx="3931920" cy="320040"/>
          </a:xfrm>
          <a:prstGeom prst="rect">
            <a:avLst/>
          </a:prstGeom>
          <a:noFill/>
          <a:ln/>
        </p:spPr>
        <p:txBody>
          <a:bodyPr wrap="square" lIns="0" tIns="0" rIns="0" bIns="0" rtlCol="0" anchor="ctr"/>
          <a:lstStyle/>
          <a:p>
            <a:pPr indent="0" marL="0">
              <a:buNone/>
            </a:pPr>
            <a:r>
              <a:rPr lang="en-US" sz="1400" dirty="0">
                <a:solidFill>
                  <a:srgbClr val="22C55E"/>
                </a:solidFill>
                <a:latin typeface="Courier New" pitchFamily="34" charset="0"/>
                <a:ea typeface="Courier New" pitchFamily="34" charset="-122"/>
                <a:cs typeface="Courier New" pitchFamily="34" charset="-120"/>
              </a:rPr>
              <a:t>$ </a:t>
            </a:r>
            <a:pPr indent="0" marL="0">
              <a:buNone/>
            </a:pPr>
            <a:r>
              <a:rPr lang="en-US" sz="1400" dirty="0">
                <a:solidFill>
                  <a:srgbClr val="00B4FF"/>
                </a:solidFill>
                <a:latin typeface="Courier New" pitchFamily="34" charset="0"/>
                <a:ea typeface="Courier New" pitchFamily="34" charset="-122"/>
                <a:cs typeface="Courier New" pitchFamily="34" charset="-120"/>
              </a:rPr>
              <a:t>_</a:t>
            </a:r>
            <a:endParaRPr lang="en-US" sz="1400" dirty="0"/>
          </a:p>
        </p:txBody>
      </p:sp>
      <p:sp>
        <p:nvSpPr>
          <p:cNvPr id="24" name="Text 22"/>
          <p:cNvSpPr txBox="1"/>
          <p:nvPr/>
        </p:nvSpPr>
        <p:spPr>
          <a:xfrm>
            <a:off x="7315200" y="4434840"/>
            <a:ext cx="3200400" cy="274320"/>
          </a:xfrm>
          <a:prstGeom prst="rect">
            <a:avLst/>
          </a:prstGeom>
          <a:noFill/>
          <a:ln/>
        </p:spPr>
        <p:txBody>
          <a:bodyPr wrap="square" lIns="0" tIns="0" rIns="0" bIns="0" rtlCol="0" anchor="ctr"/>
          <a:lstStyle/>
          <a:p>
            <a:pPr indent="0" marL="0">
              <a:buNone/>
            </a:pPr>
            <a:r>
              <a:rPr lang="en-US" sz="1200" dirty="0">
                <a:solidFill>
                  <a:srgbClr val="A9B8D6"/>
                </a:solidFill>
                <a:latin typeface="Calibri" pitchFamily="34" charset="0"/>
                <a:ea typeface="Calibri" pitchFamily="34" charset="-122"/>
                <a:cs typeface="Calibri" pitchFamily="34" charset="-120"/>
              </a:rPr>
              <a:t>Illustrative concept view</a:t>
            </a:r>
            <a:endParaRPr lang="en-US" sz="1200" dirty="0"/>
          </a:p>
        </p:txBody>
      </p:sp>
      <p:sp>
        <p:nvSpPr>
          <p:cNvPr id="25" name="Permission symbol"/>
          <p:cNvSpPr/>
          <p:nvPr/>
        </p:nvSpPr>
        <p:spPr>
          <a:xfrm>
            <a:off x="7315200" y="4937760"/>
            <a:ext cx="731520" cy="731520"/>
          </a:xfrm>
          <a:prstGeom prst="roundRect">
            <a:avLst>
              <a:gd name="adj" fmla="val 12500"/>
            </a:avLst>
          </a:prstGeom>
          <a:solidFill>
            <a:srgbClr val="111B3A"/>
          </a:solidFill>
          <a:ln w="25400">
            <a:solidFill>
              <a:srgbClr val="00B4FF"/>
            </a:solidFill>
          </a:ln>
        </p:spPr>
        <p:txBody>
          <a:bodyPr wrap="square" lIns="0" tIns="0" rIns="0" bIns="0" rtlCol="0" anchor="ctr"/>
          <a:lstStyle/>
          <a:p>
            <a:pPr algn="ctr" indent="0" marL="0">
              <a:buNone/>
            </a:pPr>
            <a:r>
              <a:rPr lang="en-US" sz="3200" b="1" dirty="0">
                <a:solidFill>
                  <a:srgbClr val="00B4FF"/>
                </a:solidFill>
                <a:latin typeface="Courier New" pitchFamily="34" charset="0"/>
                <a:ea typeface="Courier New" pitchFamily="34" charset="-122"/>
                <a:cs typeface="Courier New" pitchFamily="34" charset="-120"/>
              </a:rPr>
              <a:t>r</a:t>
            </a:r>
            <a:endParaRPr lang="en-US" sz="3200" dirty="0"/>
          </a:p>
        </p:txBody>
      </p:sp>
      <p:sp>
        <p:nvSpPr>
          <p:cNvPr id="26" name="Text 24"/>
          <p:cNvSpPr txBox="1"/>
          <p:nvPr/>
        </p:nvSpPr>
        <p:spPr>
          <a:xfrm>
            <a:off x="7315200" y="5715000"/>
            <a:ext cx="731520" cy="274320"/>
          </a:xfrm>
          <a:prstGeom prst="rect">
            <a:avLst/>
          </a:prstGeom>
          <a:noFill/>
          <a:ln/>
        </p:spPr>
        <p:txBody>
          <a:bodyPr wrap="square" lIns="0" tIns="0" rIns="0" bIns="0" rtlCol="0" anchor="ctr"/>
          <a:lstStyle/>
          <a:p>
            <a:pPr algn="ctr" indent="0" marL="0">
              <a:buNone/>
            </a:pPr>
            <a:r>
              <a:rPr lang="en-US" sz="1400" dirty="0">
                <a:solidFill>
                  <a:srgbClr val="A9B8D6"/>
                </a:solidFill>
                <a:latin typeface="Calibri" pitchFamily="34" charset="0"/>
                <a:ea typeface="Calibri" pitchFamily="34" charset="-122"/>
                <a:cs typeface="Calibri" pitchFamily="34" charset="-120"/>
              </a:rPr>
              <a:t>= 4</a:t>
            </a:r>
            <a:endParaRPr lang="en-US" sz="1400" dirty="0"/>
          </a:p>
        </p:txBody>
      </p:sp>
      <p:sp>
        <p:nvSpPr>
          <p:cNvPr id="27" name="Permission symbol"/>
          <p:cNvSpPr/>
          <p:nvPr/>
        </p:nvSpPr>
        <p:spPr>
          <a:xfrm>
            <a:off x="8156448" y="4937760"/>
            <a:ext cx="731520" cy="731520"/>
          </a:xfrm>
          <a:prstGeom prst="roundRect">
            <a:avLst>
              <a:gd name="adj" fmla="val 12500"/>
            </a:avLst>
          </a:prstGeom>
          <a:solidFill>
            <a:srgbClr val="111B3A"/>
          </a:solidFill>
          <a:ln w="25400">
            <a:solidFill>
              <a:srgbClr val="00B4FF"/>
            </a:solidFill>
          </a:ln>
        </p:spPr>
        <p:txBody>
          <a:bodyPr wrap="square" lIns="0" tIns="0" rIns="0" bIns="0" rtlCol="0" anchor="ctr"/>
          <a:lstStyle/>
          <a:p>
            <a:pPr algn="ctr" indent="0" marL="0">
              <a:buNone/>
            </a:pPr>
            <a:r>
              <a:rPr lang="en-US" sz="3200" b="1" dirty="0">
                <a:solidFill>
                  <a:srgbClr val="00B4FF"/>
                </a:solidFill>
                <a:latin typeface="Courier New" pitchFamily="34" charset="0"/>
                <a:ea typeface="Courier New" pitchFamily="34" charset="-122"/>
                <a:cs typeface="Courier New" pitchFamily="34" charset="-120"/>
              </a:rPr>
              <a:t>w</a:t>
            </a:r>
            <a:endParaRPr lang="en-US" sz="3200" dirty="0"/>
          </a:p>
        </p:txBody>
      </p:sp>
      <p:sp>
        <p:nvSpPr>
          <p:cNvPr id="28" name="Text 26"/>
          <p:cNvSpPr txBox="1"/>
          <p:nvPr/>
        </p:nvSpPr>
        <p:spPr>
          <a:xfrm>
            <a:off x="8156448" y="5715000"/>
            <a:ext cx="731520" cy="274320"/>
          </a:xfrm>
          <a:prstGeom prst="rect">
            <a:avLst/>
          </a:prstGeom>
          <a:noFill/>
          <a:ln/>
        </p:spPr>
        <p:txBody>
          <a:bodyPr wrap="square" lIns="0" tIns="0" rIns="0" bIns="0" rtlCol="0" anchor="ctr"/>
          <a:lstStyle/>
          <a:p>
            <a:pPr algn="ctr" indent="0" marL="0">
              <a:buNone/>
            </a:pPr>
            <a:r>
              <a:rPr lang="en-US" sz="1400" dirty="0">
                <a:solidFill>
                  <a:srgbClr val="A9B8D6"/>
                </a:solidFill>
                <a:latin typeface="Calibri" pitchFamily="34" charset="0"/>
                <a:ea typeface="Calibri" pitchFamily="34" charset="-122"/>
                <a:cs typeface="Calibri" pitchFamily="34" charset="-120"/>
              </a:rPr>
              <a:t>= 2</a:t>
            </a:r>
            <a:endParaRPr lang="en-US" sz="1400" dirty="0"/>
          </a:p>
        </p:txBody>
      </p:sp>
      <p:sp>
        <p:nvSpPr>
          <p:cNvPr id="29" name="Permission symbol"/>
          <p:cNvSpPr/>
          <p:nvPr/>
        </p:nvSpPr>
        <p:spPr>
          <a:xfrm>
            <a:off x="8997696" y="4937760"/>
            <a:ext cx="731520" cy="731520"/>
          </a:xfrm>
          <a:prstGeom prst="roundRect">
            <a:avLst>
              <a:gd name="adj" fmla="val 12500"/>
            </a:avLst>
          </a:prstGeom>
          <a:solidFill>
            <a:srgbClr val="111B3A"/>
          </a:solidFill>
          <a:ln w="25400">
            <a:solidFill>
              <a:srgbClr val="00B4FF"/>
            </a:solidFill>
          </a:ln>
        </p:spPr>
        <p:txBody>
          <a:bodyPr wrap="square" lIns="0" tIns="0" rIns="0" bIns="0" rtlCol="0" anchor="ctr"/>
          <a:lstStyle/>
          <a:p>
            <a:pPr algn="ctr" indent="0" marL="0">
              <a:buNone/>
            </a:pPr>
            <a:r>
              <a:rPr lang="en-US" sz="3200" b="1" dirty="0">
                <a:solidFill>
                  <a:srgbClr val="00B4FF"/>
                </a:solidFill>
                <a:latin typeface="Courier New" pitchFamily="34" charset="0"/>
                <a:ea typeface="Courier New" pitchFamily="34" charset="-122"/>
                <a:cs typeface="Courier New" pitchFamily="34" charset="-120"/>
              </a:rPr>
              <a:t>x</a:t>
            </a:r>
            <a:endParaRPr lang="en-US" sz="3200" dirty="0"/>
          </a:p>
        </p:txBody>
      </p:sp>
      <p:sp>
        <p:nvSpPr>
          <p:cNvPr id="30" name="Text 28"/>
          <p:cNvSpPr txBox="1"/>
          <p:nvPr/>
        </p:nvSpPr>
        <p:spPr>
          <a:xfrm>
            <a:off x="8997696" y="5715000"/>
            <a:ext cx="731520" cy="274320"/>
          </a:xfrm>
          <a:prstGeom prst="rect">
            <a:avLst/>
          </a:prstGeom>
          <a:noFill/>
          <a:ln/>
        </p:spPr>
        <p:txBody>
          <a:bodyPr wrap="square" lIns="0" tIns="0" rIns="0" bIns="0" rtlCol="0" anchor="ctr"/>
          <a:lstStyle/>
          <a:p>
            <a:pPr algn="ctr" indent="0" marL="0">
              <a:buNone/>
            </a:pPr>
            <a:r>
              <a:rPr lang="en-US" sz="1400" dirty="0">
                <a:solidFill>
                  <a:srgbClr val="A9B8D6"/>
                </a:solidFill>
                <a:latin typeface="Calibri" pitchFamily="34" charset="0"/>
                <a:ea typeface="Calibri" pitchFamily="34" charset="-122"/>
                <a:cs typeface="Calibri" pitchFamily="34" charset="-120"/>
              </a:rPr>
              <a:t>= 1</a:t>
            </a:r>
            <a:endParaRPr lang="en-US" sz="1400" dirty="0"/>
          </a:p>
        </p:txBody>
      </p:sp>
      <p:pic>
        <p:nvPicPr>
          <p:cNvPr id="31" name="Image 0" descr="Shield icon">    </p:cNvPr>
          <p:cNvPicPr>
            <a:picLocks noChangeAspect="1"/>
          </p:cNvPicPr>
          <p:nvPr/>
        </p:nvPicPr>
        <p:blipFill>
          <a:blip r:embed="rId1"/>
          <a:stretch>
            <a:fillRect/>
          </a:stretch>
        </p:blipFill>
        <p:spPr>
          <a:xfrm>
            <a:off x="10012680" y="4572000"/>
            <a:ext cx="1645920" cy="1645920"/>
          </a:xfrm>
          <a:prstGeom prst="rect">
            <a:avLst/>
          </a:prstGeom>
        </p:spPr>
      </p:pic>
      <p:pic>
        <p:nvPicPr>
          <p:cNvPr id="32" name="Image 1" descr="Lock icon">    </p:cNvPr>
          <p:cNvPicPr>
            <a:picLocks noChangeAspect="1"/>
          </p:cNvPicPr>
          <p:nvPr/>
        </p:nvPicPr>
        <p:blipFill>
          <a:blip r:embed="rId2"/>
          <a:stretch>
            <a:fillRect/>
          </a:stretch>
        </p:blipFill>
        <p:spPr>
          <a:xfrm>
            <a:off x="10561320" y="521208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The Problem: Insecure File Permissions</a:t>
            </a:r>
            <a:endParaRPr lang="en-US" sz="3400" dirty="0"/>
          </a:p>
        </p:txBody>
      </p:sp>
      <p:sp>
        <p:nvSpPr>
          <p:cNvPr id="3" name="Text 1"/>
          <p:cNvSpPr txBox="1"/>
          <p:nvPr/>
        </p:nvSpPr>
        <p:spPr>
          <a:xfrm>
            <a:off x="548640" y="1417320"/>
            <a:ext cx="4754880" cy="3931920"/>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Linux permissions control who can read, write and execute a file</a:t>
            </a:r>
            <a:endParaRPr lang="en-US" sz="1800" dirty="0"/>
          </a:p>
          <a:p>
            <a:pPr marL="342900" indent="-3429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Wrong settings may let unauthorized users modify files</a:t>
            </a:r>
            <a:endParaRPr lang="en-US" sz="1800" dirty="0"/>
          </a:p>
          <a:p>
            <a:pPr marL="342900" indent="-3429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Sensitive information may be exposed</a:t>
            </a:r>
            <a:endParaRPr lang="en-US" sz="1800" dirty="0"/>
          </a:p>
          <a:p>
            <a:pPr marL="342900" indent="-3429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Directories may become writable by unintended users</a:t>
            </a:r>
            <a:endParaRPr lang="en-US" sz="1800" dirty="0"/>
          </a:p>
          <a:p>
            <a:pPr marL="342900" indent="-3429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Accidental or unauthorized changes become more likely</a:t>
            </a:r>
            <a:endParaRPr lang="en-US" sz="1800" dirty="0"/>
          </a:p>
          <a:p>
            <a:pPr marL="342900" indent="-342900">
              <a:spcAft>
                <a:spcPts val="900"/>
              </a:spcAft>
              <a:buSzPct val="100000"/>
              <a:buChar char="•"/>
            </a:pPr>
            <a:r>
              <a:rPr lang="en-US" sz="1800" dirty="0">
                <a:solidFill>
                  <a:srgbClr val="FFFFFF"/>
                </a:solidFill>
                <a:latin typeface="Calibri" pitchFamily="34" charset="0"/>
                <a:ea typeface="Calibri" pitchFamily="34" charset="-122"/>
                <a:cs typeface="Calibri" pitchFamily="34" charset="-120"/>
              </a:rPr>
              <a:t>Checking permissions by hand is slow</a:t>
            </a:r>
            <a:endParaRPr lang="en-US" sz="1800" dirty="0"/>
          </a:p>
        </p:txBody>
      </p:sp>
      <p:sp>
        <p:nvSpPr>
          <p:cNvPr id="4" name="Comparison card"/>
          <p:cNvSpPr/>
          <p:nvPr/>
        </p:nvSpPr>
        <p:spPr>
          <a:xfrm>
            <a:off x="5669280" y="1417320"/>
            <a:ext cx="5971032" cy="1874520"/>
          </a:xfrm>
          <a:prstGeom prst="roundRect">
            <a:avLst>
              <a:gd name="adj" fmla="val 5854"/>
            </a:avLst>
          </a:prstGeom>
          <a:solidFill>
            <a:srgbClr val="111B3A"/>
          </a:solidFill>
          <a:ln w="12700">
            <a:solidFill>
              <a:srgbClr val="1F3C7A"/>
            </a:solidFill>
            <a:prstDash val="solid"/>
          </a:ln>
        </p:spPr>
      </p:sp>
      <p:sp>
        <p:nvSpPr>
          <p:cNvPr id="5" name="Text 3"/>
          <p:cNvSpPr txBox="1"/>
          <p:nvPr/>
        </p:nvSpPr>
        <p:spPr>
          <a:xfrm>
            <a:off x="5897880" y="1527048"/>
            <a:ext cx="3931920" cy="365760"/>
          </a:xfrm>
          <a:prstGeom prst="rect">
            <a:avLst/>
          </a:prstGeom>
          <a:noFill/>
          <a:ln/>
        </p:spPr>
        <p:txBody>
          <a:bodyPr wrap="square" lIns="0" tIns="0" rIns="0" bIns="0" rtlCol="0" anchor="ctr"/>
          <a:lstStyle/>
          <a:p>
            <a:pPr indent="0" marL="0">
              <a:buNone/>
            </a:pPr>
            <a:r>
              <a:rPr lang="en-US" sz="1800" b="1" dirty="0">
                <a:solidFill>
                  <a:srgbClr val="22C55E"/>
                </a:solidFill>
                <a:latin typeface="Calibri" pitchFamily="34" charset="0"/>
                <a:ea typeface="Calibri" pitchFamily="34" charset="-122"/>
                <a:cs typeface="Calibri" pitchFamily="34" charset="-120"/>
              </a:rPr>
              <a:t>Properly restricted file</a:t>
            </a:r>
            <a:endParaRPr lang="en-US" sz="1800" dirty="0"/>
          </a:p>
        </p:txBody>
      </p:sp>
      <p:sp>
        <p:nvSpPr>
          <p:cNvPr id="6" name="Text 4"/>
          <p:cNvSpPr txBox="1"/>
          <p:nvPr/>
        </p:nvSpPr>
        <p:spPr>
          <a:xfrm>
            <a:off x="5897880" y="1947672"/>
            <a:ext cx="1097280" cy="228600"/>
          </a:xfrm>
          <a:prstGeom prst="rect">
            <a:avLst/>
          </a:prstGeom>
          <a:noFill/>
          <a:ln/>
        </p:spPr>
        <p:txBody>
          <a:bodyPr wrap="square" lIns="0" tIns="0" rIns="0" bIns="0" rtlCol="0" anchor="ctr"/>
          <a:lstStyle/>
          <a:p>
            <a:pPr algn="ctr" indent="0" marL="0">
              <a:buNone/>
            </a:pPr>
            <a:r>
              <a:rPr lang="en-US" sz="1200" dirty="0">
                <a:solidFill>
                  <a:srgbClr val="A9B8D6"/>
                </a:solidFill>
                <a:latin typeface="Calibri" pitchFamily="34" charset="0"/>
                <a:ea typeface="Calibri" pitchFamily="34" charset="-122"/>
                <a:cs typeface="Calibri" pitchFamily="34" charset="-120"/>
              </a:rPr>
              <a:t>Owner</a:t>
            </a:r>
            <a:endParaRPr lang="en-US" sz="1200" dirty="0"/>
          </a:p>
        </p:txBody>
      </p:sp>
      <p:sp>
        <p:nvSpPr>
          <p:cNvPr id="7" name="Text 5"/>
          <p:cNvSpPr txBox="1"/>
          <p:nvPr/>
        </p:nvSpPr>
        <p:spPr>
          <a:xfrm>
            <a:off x="7123176" y="1947672"/>
            <a:ext cx="1097280" cy="228600"/>
          </a:xfrm>
          <a:prstGeom prst="rect">
            <a:avLst/>
          </a:prstGeom>
          <a:noFill/>
          <a:ln/>
        </p:spPr>
        <p:txBody>
          <a:bodyPr wrap="square" lIns="0" tIns="0" rIns="0" bIns="0" rtlCol="0" anchor="ctr"/>
          <a:lstStyle/>
          <a:p>
            <a:pPr algn="ctr" indent="0" marL="0">
              <a:buNone/>
            </a:pPr>
            <a:r>
              <a:rPr lang="en-US" sz="1200" dirty="0">
                <a:solidFill>
                  <a:srgbClr val="A9B8D6"/>
                </a:solidFill>
                <a:latin typeface="Calibri" pitchFamily="34" charset="0"/>
                <a:ea typeface="Calibri" pitchFamily="34" charset="-122"/>
                <a:cs typeface="Calibri" pitchFamily="34" charset="-120"/>
              </a:rPr>
              <a:t>Group</a:t>
            </a:r>
            <a:endParaRPr lang="en-US" sz="1200" dirty="0"/>
          </a:p>
        </p:txBody>
      </p:sp>
      <p:sp>
        <p:nvSpPr>
          <p:cNvPr id="8" name="Text 6"/>
          <p:cNvSpPr txBox="1"/>
          <p:nvPr/>
        </p:nvSpPr>
        <p:spPr>
          <a:xfrm>
            <a:off x="8348472" y="1947672"/>
            <a:ext cx="1097280" cy="228600"/>
          </a:xfrm>
          <a:prstGeom prst="rect">
            <a:avLst/>
          </a:prstGeom>
          <a:noFill/>
          <a:ln/>
        </p:spPr>
        <p:txBody>
          <a:bodyPr wrap="square" lIns="0" tIns="0" rIns="0" bIns="0" rtlCol="0" anchor="ctr"/>
          <a:lstStyle/>
          <a:p>
            <a:pPr algn="ctr" indent="0" marL="0">
              <a:buNone/>
            </a:pPr>
            <a:r>
              <a:rPr lang="en-US" sz="1200" dirty="0">
                <a:solidFill>
                  <a:srgbClr val="A9B8D6"/>
                </a:solidFill>
                <a:latin typeface="Calibri" pitchFamily="34" charset="0"/>
                <a:ea typeface="Calibri" pitchFamily="34" charset="-122"/>
                <a:cs typeface="Calibri" pitchFamily="34" charset="-120"/>
              </a:rPr>
              <a:t>Others</a:t>
            </a:r>
            <a:endParaRPr lang="en-US" sz="1200" dirty="0"/>
          </a:p>
        </p:txBody>
      </p:sp>
      <p:sp>
        <p:nvSpPr>
          <p:cNvPr id="9" name="Permission cell"/>
          <p:cNvSpPr/>
          <p:nvPr/>
        </p:nvSpPr>
        <p:spPr>
          <a:xfrm>
            <a:off x="5897880" y="2194560"/>
            <a:ext cx="365760" cy="457200"/>
          </a:xfrm>
          <a:prstGeom prst="rect">
            <a:avLst/>
          </a:prstGeom>
          <a:solidFill>
            <a:srgbClr val="22C55E"/>
          </a:solidFill>
          <a:ln w="12700">
            <a:solidFill>
              <a:srgbClr val="0A1128"/>
            </a:solidFill>
          </a:ln>
        </p:spPr>
        <p:txBody>
          <a:bodyPr wrap="square" lIns="0" tIns="0" rIns="0" bIns="0" rtlCol="0" anchor="ctr"/>
          <a:lstStyle/>
          <a:p>
            <a:pPr algn="ctr" indent="0" marL="0">
              <a:buNone/>
            </a:pPr>
            <a:r>
              <a:rPr lang="en-US" sz="1800" b="1" dirty="0">
                <a:solidFill>
                  <a:srgbClr val="0A1128"/>
                </a:solidFill>
                <a:latin typeface="Courier New" pitchFamily="34" charset="0"/>
                <a:ea typeface="Courier New" pitchFamily="34" charset="-122"/>
                <a:cs typeface="Courier New" pitchFamily="34" charset="-120"/>
              </a:rPr>
              <a:t>r</a:t>
            </a:r>
            <a:endParaRPr lang="en-US" sz="1800" dirty="0"/>
          </a:p>
        </p:txBody>
      </p:sp>
      <p:sp>
        <p:nvSpPr>
          <p:cNvPr id="10" name="Permission cell"/>
          <p:cNvSpPr/>
          <p:nvPr/>
        </p:nvSpPr>
        <p:spPr>
          <a:xfrm>
            <a:off x="6263640" y="2194560"/>
            <a:ext cx="365760" cy="457200"/>
          </a:xfrm>
          <a:prstGeom prst="rect">
            <a:avLst/>
          </a:prstGeom>
          <a:solidFill>
            <a:srgbClr val="22C55E"/>
          </a:solidFill>
          <a:ln w="12700">
            <a:solidFill>
              <a:srgbClr val="0A1128"/>
            </a:solidFill>
          </a:ln>
        </p:spPr>
        <p:txBody>
          <a:bodyPr wrap="square" lIns="0" tIns="0" rIns="0" bIns="0" rtlCol="0" anchor="ctr"/>
          <a:lstStyle/>
          <a:p>
            <a:pPr algn="ctr" indent="0" marL="0">
              <a:buNone/>
            </a:pPr>
            <a:r>
              <a:rPr lang="en-US" sz="1800" b="1" dirty="0">
                <a:solidFill>
                  <a:srgbClr val="0A1128"/>
                </a:solidFill>
                <a:latin typeface="Courier New" pitchFamily="34" charset="0"/>
                <a:ea typeface="Courier New" pitchFamily="34" charset="-122"/>
                <a:cs typeface="Courier New" pitchFamily="34" charset="-120"/>
              </a:rPr>
              <a:t>w</a:t>
            </a:r>
            <a:endParaRPr lang="en-US" sz="1800" dirty="0"/>
          </a:p>
        </p:txBody>
      </p:sp>
      <p:sp>
        <p:nvSpPr>
          <p:cNvPr id="11" name="Permission cell"/>
          <p:cNvSpPr/>
          <p:nvPr/>
        </p:nvSpPr>
        <p:spPr>
          <a:xfrm>
            <a:off x="6629400" y="2194560"/>
            <a:ext cx="365760" cy="457200"/>
          </a:xfrm>
          <a:prstGeom prst="rect">
            <a:avLst/>
          </a:prstGeom>
          <a:solidFill>
            <a:srgbClr val="1B2A55"/>
          </a:solidFill>
          <a:ln w="12700">
            <a:solidFill>
              <a:srgbClr val="0A1128"/>
            </a:solidFill>
          </a:ln>
        </p:spPr>
        <p:txBody>
          <a:bodyPr wrap="square" lIns="0" tIns="0" rIns="0" bIns="0" rtlCol="0" anchor="ctr"/>
          <a:lstStyle/>
          <a:p>
            <a:pPr algn="ctr" indent="0" marL="0">
              <a:buNone/>
            </a:pPr>
            <a:r>
              <a:rPr lang="en-US" sz="1800" b="1" dirty="0">
                <a:solidFill>
                  <a:srgbClr val="7F90B8"/>
                </a:solidFill>
                <a:latin typeface="Courier New" pitchFamily="34" charset="0"/>
                <a:ea typeface="Courier New" pitchFamily="34" charset="-122"/>
                <a:cs typeface="Courier New" pitchFamily="34" charset="-120"/>
              </a:rPr>
              <a:t>-</a:t>
            </a:r>
            <a:endParaRPr lang="en-US" sz="1800" dirty="0"/>
          </a:p>
        </p:txBody>
      </p:sp>
      <p:sp>
        <p:nvSpPr>
          <p:cNvPr id="12" name="Permission cell"/>
          <p:cNvSpPr/>
          <p:nvPr/>
        </p:nvSpPr>
        <p:spPr>
          <a:xfrm>
            <a:off x="7123176" y="2194560"/>
            <a:ext cx="365760" cy="457200"/>
          </a:xfrm>
          <a:prstGeom prst="rect">
            <a:avLst/>
          </a:prstGeom>
          <a:solidFill>
            <a:srgbClr val="1B2A55"/>
          </a:solidFill>
          <a:ln w="12700">
            <a:solidFill>
              <a:srgbClr val="0A1128"/>
            </a:solidFill>
          </a:ln>
        </p:spPr>
        <p:txBody>
          <a:bodyPr wrap="square" lIns="0" tIns="0" rIns="0" bIns="0" rtlCol="0" anchor="ctr"/>
          <a:lstStyle/>
          <a:p>
            <a:pPr algn="ctr" indent="0" marL="0">
              <a:buNone/>
            </a:pPr>
            <a:r>
              <a:rPr lang="en-US" sz="1800" b="1" dirty="0">
                <a:solidFill>
                  <a:srgbClr val="7F90B8"/>
                </a:solidFill>
                <a:latin typeface="Courier New" pitchFamily="34" charset="0"/>
                <a:ea typeface="Courier New" pitchFamily="34" charset="-122"/>
                <a:cs typeface="Courier New" pitchFamily="34" charset="-120"/>
              </a:rPr>
              <a:t>-</a:t>
            </a:r>
            <a:endParaRPr lang="en-US" sz="1800" dirty="0"/>
          </a:p>
        </p:txBody>
      </p:sp>
      <p:sp>
        <p:nvSpPr>
          <p:cNvPr id="13" name="Permission cell"/>
          <p:cNvSpPr/>
          <p:nvPr/>
        </p:nvSpPr>
        <p:spPr>
          <a:xfrm>
            <a:off x="7488936" y="2194560"/>
            <a:ext cx="365760" cy="457200"/>
          </a:xfrm>
          <a:prstGeom prst="rect">
            <a:avLst/>
          </a:prstGeom>
          <a:solidFill>
            <a:srgbClr val="1B2A55"/>
          </a:solidFill>
          <a:ln w="12700">
            <a:solidFill>
              <a:srgbClr val="0A1128"/>
            </a:solidFill>
          </a:ln>
        </p:spPr>
        <p:txBody>
          <a:bodyPr wrap="square" lIns="0" tIns="0" rIns="0" bIns="0" rtlCol="0" anchor="ctr"/>
          <a:lstStyle/>
          <a:p>
            <a:pPr algn="ctr" indent="0" marL="0">
              <a:buNone/>
            </a:pPr>
            <a:r>
              <a:rPr lang="en-US" sz="1800" b="1" dirty="0">
                <a:solidFill>
                  <a:srgbClr val="7F90B8"/>
                </a:solidFill>
                <a:latin typeface="Courier New" pitchFamily="34" charset="0"/>
                <a:ea typeface="Courier New" pitchFamily="34" charset="-122"/>
                <a:cs typeface="Courier New" pitchFamily="34" charset="-120"/>
              </a:rPr>
              <a:t>-</a:t>
            </a:r>
            <a:endParaRPr lang="en-US" sz="1800" dirty="0"/>
          </a:p>
        </p:txBody>
      </p:sp>
      <p:sp>
        <p:nvSpPr>
          <p:cNvPr id="14" name="Permission cell"/>
          <p:cNvSpPr/>
          <p:nvPr/>
        </p:nvSpPr>
        <p:spPr>
          <a:xfrm>
            <a:off x="7854696" y="2194560"/>
            <a:ext cx="365760" cy="457200"/>
          </a:xfrm>
          <a:prstGeom prst="rect">
            <a:avLst/>
          </a:prstGeom>
          <a:solidFill>
            <a:srgbClr val="1B2A55"/>
          </a:solidFill>
          <a:ln w="12700">
            <a:solidFill>
              <a:srgbClr val="0A1128"/>
            </a:solidFill>
          </a:ln>
        </p:spPr>
        <p:txBody>
          <a:bodyPr wrap="square" lIns="0" tIns="0" rIns="0" bIns="0" rtlCol="0" anchor="ctr"/>
          <a:lstStyle/>
          <a:p>
            <a:pPr algn="ctr" indent="0" marL="0">
              <a:buNone/>
            </a:pPr>
            <a:r>
              <a:rPr lang="en-US" sz="1800" b="1" dirty="0">
                <a:solidFill>
                  <a:srgbClr val="7F90B8"/>
                </a:solidFill>
                <a:latin typeface="Courier New" pitchFamily="34" charset="0"/>
                <a:ea typeface="Courier New" pitchFamily="34" charset="-122"/>
                <a:cs typeface="Courier New" pitchFamily="34" charset="-120"/>
              </a:rPr>
              <a:t>-</a:t>
            </a:r>
            <a:endParaRPr lang="en-US" sz="1800" dirty="0"/>
          </a:p>
        </p:txBody>
      </p:sp>
      <p:sp>
        <p:nvSpPr>
          <p:cNvPr id="15" name="Permission cell"/>
          <p:cNvSpPr/>
          <p:nvPr/>
        </p:nvSpPr>
        <p:spPr>
          <a:xfrm>
            <a:off x="8348472" y="2194560"/>
            <a:ext cx="365760" cy="457200"/>
          </a:xfrm>
          <a:prstGeom prst="rect">
            <a:avLst/>
          </a:prstGeom>
          <a:solidFill>
            <a:srgbClr val="1B2A55"/>
          </a:solidFill>
          <a:ln w="12700">
            <a:solidFill>
              <a:srgbClr val="0A1128"/>
            </a:solidFill>
          </a:ln>
        </p:spPr>
        <p:txBody>
          <a:bodyPr wrap="square" lIns="0" tIns="0" rIns="0" bIns="0" rtlCol="0" anchor="ctr"/>
          <a:lstStyle/>
          <a:p>
            <a:pPr algn="ctr" indent="0" marL="0">
              <a:buNone/>
            </a:pPr>
            <a:r>
              <a:rPr lang="en-US" sz="1800" b="1" dirty="0">
                <a:solidFill>
                  <a:srgbClr val="7F90B8"/>
                </a:solidFill>
                <a:latin typeface="Courier New" pitchFamily="34" charset="0"/>
                <a:ea typeface="Courier New" pitchFamily="34" charset="-122"/>
                <a:cs typeface="Courier New" pitchFamily="34" charset="-120"/>
              </a:rPr>
              <a:t>-</a:t>
            </a:r>
            <a:endParaRPr lang="en-US" sz="1800" dirty="0"/>
          </a:p>
        </p:txBody>
      </p:sp>
      <p:sp>
        <p:nvSpPr>
          <p:cNvPr id="16" name="Permission cell"/>
          <p:cNvSpPr/>
          <p:nvPr/>
        </p:nvSpPr>
        <p:spPr>
          <a:xfrm>
            <a:off x="8714232" y="2194560"/>
            <a:ext cx="365760" cy="457200"/>
          </a:xfrm>
          <a:prstGeom prst="rect">
            <a:avLst/>
          </a:prstGeom>
          <a:solidFill>
            <a:srgbClr val="1B2A55"/>
          </a:solidFill>
          <a:ln w="12700">
            <a:solidFill>
              <a:srgbClr val="0A1128"/>
            </a:solidFill>
          </a:ln>
        </p:spPr>
        <p:txBody>
          <a:bodyPr wrap="square" lIns="0" tIns="0" rIns="0" bIns="0" rtlCol="0" anchor="ctr"/>
          <a:lstStyle/>
          <a:p>
            <a:pPr algn="ctr" indent="0" marL="0">
              <a:buNone/>
            </a:pPr>
            <a:r>
              <a:rPr lang="en-US" sz="1800" b="1" dirty="0">
                <a:solidFill>
                  <a:srgbClr val="7F90B8"/>
                </a:solidFill>
                <a:latin typeface="Courier New" pitchFamily="34" charset="0"/>
                <a:ea typeface="Courier New" pitchFamily="34" charset="-122"/>
                <a:cs typeface="Courier New" pitchFamily="34" charset="-120"/>
              </a:rPr>
              <a:t>-</a:t>
            </a:r>
            <a:endParaRPr lang="en-US" sz="1800" dirty="0"/>
          </a:p>
        </p:txBody>
      </p:sp>
      <p:sp>
        <p:nvSpPr>
          <p:cNvPr id="17" name="Permission cell"/>
          <p:cNvSpPr/>
          <p:nvPr/>
        </p:nvSpPr>
        <p:spPr>
          <a:xfrm>
            <a:off x="9079992" y="2194560"/>
            <a:ext cx="365760" cy="457200"/>
          </a:xfrm>
          <a:prstGeom prst="rect">
            <a:avLst/>
          </a:prstGeom>
          <a:solidFill>
            <a:srgbClr val="1B2A55"/>
          </a:solidFill>
          <a:ln w="12700">
            <a:solidFill>
              <a:srgbClr val="0A1128"/>
            </a:solidFill>
          </a:ln>
        </p:spPr>
        <p:txBody>
          <a:bodyPr wrap="square" lIns="0" tIns="0" rIns="0" bIns="0" rtlCol="0" anchor="ctr"/>
          <a:lstStyle/>
          <a:p>
            <a:pPr algn="ctr" indent="0" marL="0">
              <a:buNone/>
            </a:pPr>
            <a:r>
              <a:rPr lang="en-US" sz="1800" b="1" dirty="0">
                <a:solidFill>
                  <a:srgbClr val="7F90B8"/>
                </a:solidFill>
                <a:latin typeface="Courier New" pitchFamily="34" charset="0"/>
                <a:ea typeface="Courier New" pitchFamily="34" charset="-122"/>
                <a:cs typeface="Courier New" pitchFamily="34" charset="-120"/>
              </a:rPr>
              <a:t>-</a:t>
            </a:r>
            <a:endParaRPr lang="en-US" sz="1800" dirty="0"/>
          </a:p>
        </p:txBody>
      </p:sp>
      <p:sp>
        <p:nvSpPr>
          <p:cNvPr id="18" name="Text 16"/>
          <p:cNvSpPr txBox="1"/>
          <p:nvPr/>
        </p:nvSpPr>
        <p:spPr>
          <a:xfrm>
            <a:off x="10012680" y="1828800"/>
            <a:ext cx="1463040" cy="731520"/>
          </a:xfrm>
          <a:prstGeom prst="rect">
            <a:avLst/>
          </a:prstGeom>
          <a:noFill/>
          <a:ln/>
        </p:spPr>
        <p:txBody>
          <a:bodyPr wrap="square" lIns="0" tIns="0" rIns="0" bIns="0" rtlCol="0" anchor="ctr"/>
          <a:lstStyle/>
          <a:p>
            <a:pPr algn="ctr" indent="0" marL="0">
              <a:buNone/>
            </a:pPr>
            <a:r>
              <a:rPr lang="en-US" sz="4400" b="1" dirty="0">
                <a:solidFill>
                  <a:srgbClr val="22C55E"/>
                </a:solidFill>
                <a:latin typeface="Courier New" pitchFamily="34" charset="0"/>
                <a:ea typeface="Courier New" pitchFamily="34" charset="-122"/>
                <a:cs typeface="Courier New" pitchFamily="34" charset="-120"/>
              </a:rPr>
              <a:t>600</a:t>
            </a:r>
            <a:endParaRPr lang="en-US" sz="4400" dirty="0"/>
          </a:p>
        </p:txBody>
      </p:sp>
      <p:sp>
        <p:nvSpPr>
          <p:cNvPr id="19" name="Text 17"/>
          <p:cNvSpPr txBox="1"/>
          <p:nvPr/>
        </p:nvSpPr>
        <p:spPr>
          <a:xfrm>
            <a:off x="9829800" y="2532888"/>
            <a:ext cx="1828800" cy="274320"/>
          </a:xfrm>
          <a:prstGeom prst="rect">
            <a:avLst/>
          </a:prstGeom>
          <a:noFill/>
          <a:ln/>
        </p:spPr>
        <p:txBody>
          <a:bodyPr wrap="square" lIns="0" tIns="0" rIns="0" bIns="0" rtlCol="0" anchor="ctr"/>
          <a:lstStyle/>
          <a:p>
            <a:pPr algn="ctr" indent="0" marL="0">
              <a:buNone/>
            </a:pPr>
            <a:r>
              <a:rPr lang="en-US" sz="1400" dirty="0">
                <a:solidFill>
                  <a:srgbClr val="A9B8D6"/>
                </a:solidFill>
                <a:latin typeface="Courier New" pitchFamily="34" charset="0"/>
                <a:ea typeface="Courier New" pitchFamily="34" charset="-122"/>
                <a:cs typeface="Courier New" pitchFamily="34" charset="-120"/>
              </a:rPr>
              <a:t>-rw-------</a:t>
            </a:r>
            <a:endParaRPr lang="en-US" sz="1400" dirty="0"/>
          </a:p>
        </p:txBody>
      </p:sp>
      <p:sp>
        <p:nvSpPr>
          <p:cNvPr id="20" name="Text 18"/>
          <p:cNvSpPr txBox="1"/>
          <p:nvPr/>
        </p:nvSpPr>
        <p:spPr>
          <a:xfrm>
            <a:off x="5897880" y="2788920"/>
            <a:ext cx="557784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Only the owner can read and write</a:t>
            </a:r>
            <a:endParaRPr lang="en-US" sz="1600" dirty="0"/>
          </a:p>
        </p:txBody>
      </p:sp>
      <p:sp>
        <p:nvSpPr>
          <p:cNvPr id="21" name="Comparison card"/>
          <p:cNvSpPr/>
          <p:nvPr/>
        </p:nvSpPr>
        <p:spPr>
          <a:xfrm>
            <a:off x="5669280" y="3474720"/>
            <a:ext cx="5971032" cy="1874520"/>
          </a:xfrm>
          <a:prstGeom prst="roundRect">
            <a:avLst>
              <a:gd name="adj" fmla="val 5854"/>
            </a:avLst>
          </a:prstGeom>
          <a:solidFill>
            <a:srgbClr val="111B3A"/>
          </a:solidFill>
          <a:ln w="12700">
            <a:solidFill>
              <a:srgbClr val="1F3C7A"/>
            </a:solidFill>
            <a:prstDash val="solid"/>
          </a:ln>
        </p:spPr>
      </p:sp>
      <p:sp>
        <p:nvSpPr>
          <p:cNvPr id="22" name="Text 20"/>
          <p:cNvSpPr txBox="1"/>
          <p:nvPr/>
        </p:nvSpPr>
        <p:spPr>
          <a:xfrm>
            <a:off x="5897880" y="3584448"/>
            <a:ext cx="3931920" cy="365760"/>
          </a:xfrm>
          <a:prstGeom prst="rect">
            <a:avLst/>
          </a:prstGeom>
          <a:noFill/>
          <a:ln/>
        </p:spPr>
        <p:txBody>
          <a:bodyPr wrap="square" lIns="0" tIns="0" rIns="0" bIns="0" rtlCol="0" anchor="ctr"/>
          <a:lstStyle/>
          <a:p>
            <a:pPr indent="0" marL="0">
              <a:buNone/>
            </a:pPr>
            <a:r>
              <a:rPr lang="en-US" sz="1800" b="1" dirty="0">
                <a:solidFill>
                  <a:srgbClr val="EF4444"/>
                </a:solidFill>
                <a:latin typeface="Calibri" pitchFamily="34" charset="0"/>
                <a:ea typeface="Calibri" pitchFamily="34" charset="-122"/>
                <a:cs typeface="Calibri" pitchFamily="34" charset="-120"/>
              </a:rPr>
              <a:t>Potentially over-permissive file</a:t>
            </a:r>
            <a:endParaRPr lang="en-US" sz="1800" dirty="0"/>
          </a:p>
        </p:txBody>
      </p:sp>
      <p:sp>
        <p:nvSpPr>
          <p:cNvPr id="23" name="Text 21"/>
          <p:cNvSpPr txBox="1"/>
          <p:nvPr/>
        </p:nvSpPr>
        <p:spPr>
          <a:xfrm>
            <a:off x="5897880" y="4005072"/>
            <a:ext cx="1097280" cy="228600"/>
          </a:xfrm>
          <a:prstGeom prst="rect">
            <a:avLst/>
          </a:prstGeom>
          <a:noFill/>
          <a:ln/>
        </p:spPr>
        <p:txBody>
          <a:bodyPr wrap="square" lIns="0" tIns="0" rIns="0" bIns="0" rtlCol="0" anchor="ctr"/>
          <a:lstStyle/>
          <a:p>
            <a:pPr algn="ctr" indent="0" marL="0">
              <a:buNone/>
            </a:pPr>
            <a:r>
              <a:rPr lang="en-US" sz="1200" dirty="0">
                <a:solidFill>
                  <a:srgbClr val="A9B8D6"/>
                </a:solidFill>
                <a:latin typeface="Calibri" pitchFamily="34" charset="0"/>
                <a:ea typeface="Calibri" pitchFamily="34" charset="-122"/>
                <a:cs typeface="Calibri" pitchFamily="34" charset="-120"/>
              </a:rPr>
              <a:t>Owner</a:t>
            </a:r>
            <a:endParaRPr lang="en-US" sz="1200" dirty="0"/>
          </a:p>
        </p:txBody>
      </p:sp>
      <p:sp>
        <p:nvSpPr>
          <p:cNvPr id="24" name="Text 22"/>
          <p:cNvSpPr txBox="1"/>
          <p:nvPr/>
        </p:nvSpPr>
        <p:spPr>
          <a:xfrm>
            <a:off x="7123176" y="4005072"/>
            <a:ext cx="1097280" cy="228600"/>
          </a:xfrm>
          <a:prstGeom prst="rect">
            <a:avLst/>
          </a:prstGeom>
          <a:noFill/>
          <a:ln/>
        </p:spPr>
        <p:txBody>
          <a:bodyPr wrap="square" lIns="0" tIns="0" rIns="0" bIns="0" rtlCol="0" anchor="ctr"/>
          <a:lstStyle/>
          <a:p>
            <a:pPr algn="ctr" indent="0" marL="0">
              <a:buNone/>
            </a:pPr>
            <a:r>
              <a:rPr lang="en-US" sz="1200" dirty="0">
                <a:solidFill>
                  <a:srgbClr val="A9B8D6"/>
                </a:solidFill>
                <a:latin typeface="Calibri" pitchFamily="34" charset="0"/>
                <a:ea typeface="Calibri" pitchFamily="34" charset="-122"/>
                <a:cs typeface="Calibri" pitchFamily="34" charset="-120"/>
              </a:rPr>
              <a:t>Group</a:t>
            </a:r>
            <a:endParaRPr lang="en-US" sz="1200" dirty="0"/>
          </a:p>
        </p:txBody>
      </p:sp>
      <p:sp>
        <p:nvSpPr>
          <p:cNvPr id="25" name="Text 23"/>
          <p:cNvSpPr txBox="1"/>
          <p:nvPr/>
        </p:nvSpPr>
        <p:spPr>
          <a:xfrm>
            <a:off x="8348472" y="4005072"/>
            <a:ext cx="1097280" cy="228600"/>
          </a:xfrm>
          <a:prstGeom prst="rect">
            <a:avLst/>
          </a:prstGeom>
          <a:noFill/>
          <a:ln/>
        </p:spPr>
        <p:txBody>
          <a:bodyPr wrap="square" lIns="0" tIns="0" rIns="0" bIns="0" rtlCol="0" anchor="ctr"/>
          <a:lstStyle/>
          <a:p>
            <a:pPr algn="ctr" indent="0" marL="0">
              <a:buNone/>
            </a:pPr>
            <a:r>
              <a:rPr lang="en-US" sz="1200" dirty="0">
                <a:solidFill>
                  <a:srgbClr val="A9B8D6"/>
                </a:solidFill>
                <a:latin typeface="Calibri" pitchFamily="34" charset="0"/>
                <a:ea typeface="Calibri" pitchFamily="34" charset="-122"/>
                <a:cs typeface="Calibri" pitchFamily="34" charset="-120"/>
              </a:rPr>
              <a:t>Others</a:t>
            </a:r>
            <a:endParaRPr lang="en-US" sz="1200" dirty="0"/>
          </a:p>
        </p:txBody>
      </p:sp>
      <p:sp>
        <p:nvSpPr>
          <p:cNvPr id="26" name="Permission cell"/>
          <p:cNvSpPr/>
          <p:nvPr/>
        </p:nvSpPr>
        <p:spPr>
          <a:xfrm>
            <a:off x="5897880" y="4251960"/>
            <a:ext cx="365760" cy="457200"/>
          </a:xfrm>
          <a:prstGeom prst="rect">
            <a:avLst/>
          </a:prstGeom>
          <a:solidFill>
            <a:srgbClr val="EF4444"/>
          </a:solidFill>
          <a:ln w="12700">
            <a:solidFill>
              <a:srgbClr val="0A1128"/>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r</a:t>
            </a:r>
            <a:endParaRPr lang="en-US" sz="1800" dirty="0"/>
          </a:p>
        </p:txBody>
      </p:sp>
      <p:sp>
        <p:nvSpPr>
          <p:cNvPr id="27" name="Permission cell"/>
          <p:cNvSpPr/>
          <p:nvPr/>
        </p:nvSpPr>
        <p:spPr>
          <a:xfrm>
            <a:off x="6263640" y="4251960"/>
            <a:ext cx="365760" cy="457200"/>
          </a:xfrm>
          <a:prstGeom prst="rect">
            <a:avLst/>
          </a:prstGeom>
          <a:solidFill>
            <a:srgbClr val="EF4444"/>
          </a:solidFill>
          <a:ln w="12700">
            <a:solidFill>
              <a:srgbClr val="0A1128"/>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w</a:t>
            </a:r>
            <a:endParaRPr lang="en-US" sz="1800" dirty="0"/>
          </a:p>
        </p:txBody>
      </p:sp>
      <p:sp>
        <p:nvSpPr>
          <p:cNvPr id="28" name="Permission cell"/>
          <p:cNvSpPr/>
          <p:nvPr/>
        </p:nvSpPr>
        <p:spPr>
          <a:xfrm>
            <a:off x="6629400" y="4251960"/>
            <a:ext cx="365760" cy="457200"/>
          </a:xfrm>
          <a:prstGeom prst="rect">
            <a:avLst/>
          </a:prstGeom>
          <a:solidFill>
            <a:srgbClr val="EF4444"/>
          </a:solidFill>
          <a:ln w="12700">
            <a:solidFill>
              <a:srgbClr val="0A1128"/>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x</a:t>
            </a:r>
            <a:endParaRPr lang="en-US" sz="1800" dirty="0"/>
          </a:p>
        </p:txBody>
      </p:sp>
      <p:sp>
        <p:nvSpPr>
          <p:cNvPr id="29" name="Permission cell"/>
          <p:cNvSpPr/>
          <p:nvPr/>
        </p:nvSpPr>
        <p:spPr>
          <a:xfrm>
            <a:off x="7123176" y="4251960"/>
            <a:ext cx="365760" cy="457200"/>
          </a:xfrm>
          <a:prstGeom prst="rect">
            <a:avLst/>
          </a:prstGeom>
          <a:solidFill>
            <a:srgbClr val="EF4444"/>
          </a:solidFill>
          <a:ln w="12700">
            <a:solidFill>
              <a:srgbClr val="0A1128"/>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r</a:t>
            </a:r>
            <a:endParaRPr lang="en-US" sz="1800" dirty="0"/>
          </a:p>
        </p:txBody>
      </p:sp>
      <p:sp>
        <p:nvSpPr>
          <p:cNvPr id="30" name="Permission cell"/>
          <p:cNvSpPr/>
          <p:nvPr/>
        </p:nvSpPr>
        <p:spPr>
          <a:xfrm>
            <a:off x="7488936" y="4251960"/>
            <a:ext cx="365760" cy="457200"/>
          </a:xfrm>
          <a:prstGeom prst="rect">
            <a:avLst/>
          </a:prstGeom>
          <a:solidFill>
            <a:srgbClr val="EF4444"/>
          </a:solidFill>
          <a:ln w="12700">
            <a:solidFill>
              <a:srgbClr val="0A1128"/>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w</a:t>
            </a:r>
            <a:endParaRPr lang="en-US" sz="1800" dirty="0"/>
          </a:p>
        </p:txBody>
      </p:sp>
      <p:sp>
        <p:nvSpPr>
          <p:cNvPr id="31" name="Permission cell"/>
          <p:cNvSpPr/>
          <p:nvPr/>
        </p:nvSpPr>
        <p:spPr>
          <a:xfrm>
            <a:off x="7854696" y="4251960"/>
            <a:ext cx="365760" cy="457200"/>
          </a:xfrm>
          <a:prstGeom prst="rect">
            <a:avLst/>
          </a:prstGeom>
          <a:solidFill>
            <a:srgbClr val="EF4444"/>
          </a:solidFill>
          <a:ln w="12700">
            <a:solidFill>
              <a:srgbClr val="0A1128"/>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x</a:t>
            </a:r>
            <a:endParaRPr lang="en-US" sz="1800" dirty="0"/>
          </a:p>
        </p:txBody>
      </p:sp>
      <p:sp>
        <p:nvSpPr>
          <p:cNvPr id="32" name="Permission cell"/>
          <p:cNvSpPr/>
          <p:nvPr/>
        </p:nvSpPr>
        <p:spPr>
          <a:xfrm>
            <a:off x="8348472" y="4251960"/>
            <a:ext cx="365760" cy="457200"/>
          </a:xfrm>
          <a:prstGeom prst="rect">
            <a:avLst/>
          </a:prstGeom>
          <a:solidFill>
            <a:srgbClr val="EF4444"/>
          </a:solidFill>
          <a:ln w="12700">
            <a:solidFill>
              <a:srgbClr val="0A1128"/>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r</a:t>
            </a:r>
            <a:endParaRPr lang="en-US" sz="1800" dirty="0"/>
          </a:p>
        </p:txBody>
      </p:sp>
      <p:sp>
        <p:nvSpPr>
          <p:cNvPr id="33" name="Permission cell"/>
          <p:cNvSpPr/>
          <p:nvPr/>
        </p:nvSpPr>
        <p:spPr>
          <a:xfrm>
            <a:off x="8714232" y="4251960"/>
            <a:ext cx="365760" cy="457200"/>
          </a:xfrm>
          <a:prstGeom prst="rect">
            <a:avLst/>
          </a:prstGeom>
          <a:solidFill>
            <a:srgbClr val="EF4444"/>
          </a:solidFill>
          <a:ln w="12700">
            <a:solidFill>
              <a:srgbClr val="0A1128"/>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w</a:t>
            </a:r>
            <a:endParaRPr lang="en-US" sz="1800" dirty="0"/>
          </a:p>
        </p:txBody>
      </p:sp>
      <p:sp>
        <p:nvSpPr>
          <p:cNvPr id="34" name="Permission cell"/>
          <p:cNvSpPr/>
          <p:nvPr/>
        </p:nvSpPr>
        <p:spPr>
          <a:xfrm>
            <a:off x="9079992" y="4251960"/>
            <a:ext cx="365760" cy="457200"/>
          </a:xfrm>
          <a:prstGeom prst="rect">
            <a:avLst/>
          </a:prstGeom>
          <a:solidFill>
            <a:srgbClr val="EF4444"/>
          </a:solidFill>
          <a:ln w="12700">
            <a:solidFill>
              <a:srgbClr val="0A1128"/>
            </a:solidFill>
          </a:ln>
        </p:spPr>
        <p:txBody>
          <a:bodyPr wrap="square" lIns="0" tIns="0" rIns="0" bIns="0" rtlCol="0" anchor="ctr"/>
          <a:lstStyle/>
          <a:p>
            <a:pPr algn="ctr" indent="0" marL="0">
              <a:buNone/>
            </a:pPr>
            <a:r>
              <a:rPr lang="en-US" sz="1800" b="1" dirty="0">
                <a:solidFill>
                  <a:srgbClr val="FFFFFF"/>
                </a:solidFill>
                <a:latin typeface="Courier New" pitchFamily="34" charset="0"/>
                <a:ea typeface="Courier New" pitchFamily="34" charset="-122"/>
                <a:cs typeface="Courier New" pitchFamily="34" charset="-120"/>
              </a:rPr>
              <a:t>x</a:t>
            </a:r>
            <a:endParaRPr lang="en-US" sz="1800" dirty="0"/>
          </a:p>
        </p:txBody>
      </p:sp>
      <p:sp>
        <p:nvSpPr>
          <p:cNvPr id="35" name="Text 33"/>
          <p:cNvSpPr txBox="1"/>
          <p:nvPr/>
        </p:nvSpPr>
        <p:spPr>
          <a:xfrm>
            <a:off x="10012680" y="3886200"/>
            <a:ext cx="1463040" cy="731520"/>
          </a:xfrm>
          <a:prstGeom prst="rect">
            <a:avLst/>
          </a:prstGeom>
          <a:noFill/>
          <a:ln/>
        </p:spPr>
        <p:txBody>
          <a:bodyPr wrap="square" lIns="0" tIns="0" rIns="0" bIns="0" rtlCol="0" anchor="ctr"/>
          <a:lstStyle/>
          <a:p>
            <a:pPr algn="ctr" indent="0" marL="0">
              <a:buNone/>
            </a:pPr>
            <a:r>
              <a:rPr lang="en-US" sz="4400" b="1" dirty="0">
                <a:solidFill>
                  <a:srgbClr val="EF4444"/>
                </a:solidFill>
                <a:latin typeface="Courier New" pitchFamily="34" charset="0"/>
                <a:ea typeface="Courier New" pitchFamily="34" charset="-122"/>
                <a:cs typeface="Courier New" pitchFamily="34" charset="-120"/>
              </a:rPr>
              <a:t>777</a:t>
            </a:r>
            <a:endParaRPr lang="en-US" sz="4400" dirty="0"/>
          </a:p>
        </p:txBody>
      </p:sp>
      <p:sp>
        <p:nvSpPr>
          <p:cNvPr id="36" name="Text 34"/>
          <p:cNvSpPr txBox="1"/>
          <p:nvPr/>
        </p:nvSpPr>
        <p:spPr>
          <a:xfrm>
            <a:off x="9829800" y="4590288"/>
            <a:ext cx="1828800" cy="274320"/>
          </a:xfrm>
          <a:prstGeom prst="rect">
            <a:avLst/>
          </a:prstGeom>
          <a:noFill/>
          <a:ln/>
        </p:spPr>
        <p:txBody>
          <a:bodyPr wrap="square" lIns="0" tIns="0" rIns="0" bIns="0" rtlCol="0" anchor="ctr"/>
          <a:lstStyle/>
          <a:p>
            <a:pPr algn="ctr" indent="0" marL="0">
              <a:buNone/>
            </a:pPr>
            <a:r>
              <a:rPr lang="en-US" sz="1400" dirty="0">
                <a:solidFill>
                  <a:srgbClr val="A9B8D6"/>
                </a:solidFill>
                <a:latin typeface="Courier New" pitchFamily="34" charset="0"/>
                <a:ea typeface="Courier New" pitchFamily="34" charset="-122"/>
                <a:cs typeface="Courier New" pitchFamily="34" charset="-120"/>
              </a:rPr>
              <a:t>-rwxrwxrwx</a:t>
            </a:r>
            <a:endParaRPr lang="en-US" sz="1400" dirty="0"/>
          </a:p>
        </p:txBody>
      </p:sp>
      <p:sp>
        <p:nvSpPr>
          <p:cNvPr id="37" name="Text 35"/>
          <p:cNvSpPr txBox="1"/>
          <p:nvPr/>
        </p:nvSpPr>
        <p:spPr>
          <a:xfrm>
            <a:off x="5897880" y="4846320"/>
            <a:ext cx="557784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Owner, group and others can read, write and execute</a:t>
            </a:r>
            <a:endParaRPr lang="en-US" sz="1600" dirty="0"/>
          </a:p>
        </p:txBody>
      </p:sp>
      <p:sp>
        <p:nvSpPr>
          <p:cNvPr id="38" name="Context note"/>
          <p:cNvSpPr/>
          <p:nvPr/>
        </p:nvSpPr>
        <p:spPr>
          <a:xfrm>
            <a:off x="548640" y="5486400"/>
            <a:ext cx="11091672" cy="640080"/>
          </a:xfrm>
          <a:prstGeom prst="roundRect">
            <a:avLst>
              <a:gd name="adj" fmla="val 14286"/>
            </a:avLst>
          </a:prstGeom>
          <a:solidFill>
            <a:srgbClr val="3A2A0A"/>
          </a:solidFill>
          <a:ln w="19050">
            <a:solidFill>
              <a:srgbClr val="F59E0B"/>
            </a:solidFill>
          </a:ln>
        </p:spPr>
        <p:txBody>
          <a:bodyPr wrap="square" lIns="0" tIns="0" rIns="0" bIns="0" rtlCol="0" anchor="ctr"/>
          <a:lstStyle/>
          <a:p>
            <a:pPr algn="ctr" indent="0" marL="0">
              <a:buNone/>
            </a:pPr>
            <a:r>
              <a:rPr lang="en-US" sz="2000" b="1" dirty="0">
                <a:solidFill>
                  <a:srgbClr val="F59E0B"/>
                </a:solidFill>
                <a:latin typeface="Calibri" pitchFamily="34" charset="0"/>
                <a:ea typeface="Calibri" pitchFamily="34" charset="-122"/>
                <a:cs typeface="Calibri" pitchFamily="34" charset="-120"/>
              </a:rPr>
              <a:t>Whether a permission is risky depends on the file's purpose and environment.</a:t>
            </a:r>
            <a:endParaRPr lang="en-US" sz="20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9B8D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Our Solution and Objectives</a:t>
            </a:r>
            <a:endParaRPr lang="en-US" sz="3400" dirty="0"/>
          </a:p>
        </p:txBody>
      </p:sp>
      <p:sp>
        <p:nvSpPr>
          <p:cNvPr id="3" name="Objective card"/>
          <p:cNvSpPr/>
          <p:nvPr/>
        </p:nvSpPr>
        <p:spPr>
          <a:xfrm>
            <a:off x="548640" y="1371600"/>
            <a:ext cx="2606040" cy="2194560"/>
          </a:xfrm>
          <a:prstGeom prst="roundRect">
            <a:avLst>
              <a:gd name="adj" fmla="val 5000"/>
            </a:avLst>
          </a:prstGeom>
          <a:solidFill>
            <a:srgbClr val="111B3A"/>
          </a:solidFill>
          <a:ln w="12700">
            <a:solidFill>
              <a:srgbClr val="1F3C7A"/>
            </a:solidFill>
            <a:prstDash val="solid"/>
          </a:ln>
        </p:spPr>
      </p:sp>
      <p:sp>
        <p:nvSpPr>
          <p:cNvPr id="4" name="Icon circle"/>
          <p:cNvSpPr/>
          <p:nvPr/>
        </p:nvSpPr>
        <p:spPr>
          <a:xfrm>
            <a:off x="777240" y="1600200"/>
            <a:ext cx="640080" cy="640080"/>
          </a:xfrm>
          <a:prstGeom prst="ellipse">
            <a:avLst/>
          </a:prstGeom>
          <a:solidFill>
            <a:srgbClr val="0E3A6E"/>
          </a:solidFill>
          <a:ln w="12700">
            <a:solidFill>
              <a:srgbClr val="00B4FF"/>
            </a:solidFill>
            <a:prstDash val="solid"/>
          </a:ln>
        </p:spPr>
      </p:sp>
      <p:pic>
        <p:nvPicPr>
          <p:cNvPr id="5" name="Image 0" descr="Analyze icon">    </p:cNvPr>
          <p:cNvPicPr>
            <a:picLocks noChangeAspect="1"/>
          </p:cNvPicPr>
          <p:nvPr/>
        </p:nvPicPr>
        <p:blipFill>
          <a:blip r:embed="rId1"/>
          <a:stretch>
            <a:fillRect/>
          </a:stretch>
        </p:blipFill>
        <p:spPr>
          <a:xfrm>
            <a:off x="941832" y="1764792"/>
            <a:ext cx="310896" cy="310896"/>
          </a:xfrm>
          <a:prstGeom prst="rect">
            <a:avLst/>
          </a:prstGeom>
        </p:spPr>
      </p:pic>
      <p:sp>
        <p:nvSpPr>
          <p:cNvPr id="6" name="Text 3"/>
          <p:cNvSpPr txBox="1"/>
          <p:nvPr/>
        </p:nvSpPr>
        <p:spPr>
          <a:xfrm>
            <a:off x="2377440" y="1645920"/>
            <a:ext cx="548640" cy="320040"/>
          </a:xfrm>
          <a:prstGeom prst="rect">
            <a:avLst/>
          </a:prstGeom>
          <a:noFill/>
          <a:ln/>
        </p:spPr>
        <p:txBody>
          <a:bodyPr wrap="square" lIns="0" tIns="0" rIns="0" bIns="0" rtlCol="0" anchor="ctr"/>
          <a:lstStyle/>
          <a:p>
            <a:pPr algn="r" indent="0" marL="0">
              <a:buNone/>
            </a:pPr>
            <a:r>
              <a:rPr lang="en-US" sz="1600" b="1" dirty="0">
                <a:solidFill>
                  <a:srgbClr val="A9B8D6"/>
                </a:solidFill>
                <a:latin typeface="Calibri" pitchFamily="34" charset="0"/>
                <a:ea typeface="Calibri" pitchFamily="34" charset="-122"/>
                <a:cs typeface="Calibri" pitchFamily="34" charset="-120"/>
              </a:rPr>
              <a:t>01</a:t>
            </a:r>
            <a:endParaRPr lang="en-US" sz="1600" dirty="0"/>
          </a:p>
        </p:txBody>
      </p:sp>
      <p:sp>
        <p:nvSpPr>
          <p:cNvPr id="7" name="Text 4"/>
          <p:cNvSpPr txBox="1"/>
          <p:nvPr/>
        </p:nvSpPr>
        <p:spPr>
          <a:xfrm>
            <a:off x="777240" y="2377440"/>
            <a:ext cx="21945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Analyze</a:t>
            </a:r>
            <a:endParaRPr lang="en-US" sz="2000" dirty="0"/>
          </a:p>
        </p:txBody>
      </p:sp>
      <p:sp>
        <p:nvSpPr>
          <p:cNvPr id="8" name="Text 5"/>
          <p:cNvSpPr txBox="1"/>
          <p:nvPr/>
        </p:nvSpPr>
        <p:spPr>
          <a:xfrm>
            <a:off x="777240" y="2761488"/>
            <a:ext cx="2194560" cy="685800"/>
          </a:xfrm>
          <a:prstGeom prst="rect">
            <a:avLst/>
          </a:prstGeom>
          <a:noFill/>
          <a:ln/>
        </p:spPr>
        <p:txBody>
          <a:bodyPr wrap="square" lIns="0" tIns="0" rIns="0" bIns="0" rtlCol="0" anchor="t"/>
          <a:lstStyle/>
          <a:p>
            <a:pPr indent="0" marL="0">
              <a:buNone/>
            </a:pPr>
            <a:r>
              <a:rPr lang="en-US" sz="1500" dirty="0">
                <a:solidFill>
                  <a:srgbClr val="A9B8D6"/>
                </a:solidFill>
                <a:latin typeface="Calibri" pitchFamily="34" charset="0"/>
                <a:ea typeface="Calibri" pitchFamily="34" charset="-122"/>
                <a:cs typeface="Calibri" pitchFamily="34" charset="-120"/>
              </a:rPr>
              <a:t>Check permissions of files and directories</a:t>
            </a:r>
            <a:endParaRPr lang="en-US" sz="1500" dirty="0"/>
          </a:p>
        </p:txBody>
      </p:sp>
      <p:sp>
        <p:nvSpPr>
          <p:cNvPr id="9" name="Objective card"/>
          <p:cNvSpPr/>
          <p:nvPr/>
        </p:nvSpPr>
        <p:spPr>
          <a:xfrm>
            <a:off x="3374136" y="1371600"/>
            <a:ext cx="2606040" cy="2194560"/>
          </a:xfrm>
          <a:prstGeom prst="roundRect">
            <a:avLst>
              <a:gd name="adj" fmla="val 5000"/>
            </a:avLst>
          </a:prstGeom>
          <a:solidFill>
            <a:srgbClr val="111B3A"/>
          </a:solidFill>
          <a:ln w="12700">
            <a:solidFill>
              <a:srgbClr val="1F3C7A"/>
            </a:solidFill>
            <a:prstDash val="solid"/>
          </a:ln>
        </p:spPr>
      </p:sp>
      <p:sp>
        <p:nvSpPr>
          <p:cNvPr id="10" name="Icon circle"/>
          <p:cNvSpPr/>
          <p:nvPr/>
        </p:nvSpPr>
        <p:spPr>
          <a:xfrm>
            <a:off x="3602736" y="1600200"/>
            <a:ext cx="640080" cy="640080"/>
          </a:xfrm>
          <a:prstGeom prst="ellipse">
            <a:avLst/>
          </a:prstGeom>
          <a:solidFill>
            <a:srgbClr val="0E3A6E"/>
          </a:solidFill>
          <a:ln w="12700">
            <a:solidFill>
              <a:srgbClr val="00B4FF"/>
            </a:solidFill>
            <a:prstDash val="solid"/>
          </a:ln>
        </p:spPr>
      </p:sp>
      <p:pic>
        <p:nvPicPr>
          <p:cNvPr id="11" name="Image 1" descr="Display icon">    </p:cNvPr>
          <p:cNvPicPr>
            <a:picLocks noChangeAspect="1"/>
          </p:cNvPicPr>
          <p:nvPr/>
        </p:nvPicPr>
        <p:blipFill>
          <a:blip r:embed="rId2"/>
          <a:stretch>
            <a:fillRect/>
          </a:stretch>
        </p:blipFill>
        <p:spPr>
          <a:xfrm>
            <a:off x="3767328" y="1764792"/>
            <a:ext cx="310896" cy="310896"/>
          </a:xfrm>
          <a:prstGeom prst="rect">
            <a:avLst/>
          </a:prstGeom>
        </p:spPr>
      </p:pic>
      <p:sp>
        <p:nvSpPr>
          <p:cNvPr id="12" name="Text 8"/>
          <p:cNvSpPr txBox="1"/>
          <p:nvPr/>
        </p:nvSpPr>
        <p:spPr>
          <a:xfrm>
            <a:off x="5202936" y="1645920"/>
            <a:ext cx="548640" cy="320040"/>
          </a:xfrm>
          <a:prstGeom prst="rect">
            <a:avLst/>
          </a:prstGeom>
          <a:noFill/>
          <a:ln/>
        </p:spPr>
        <p:txBody>
          <a:bodyPr wrap="square" lIns="0" tIns="0" rIns="0" bIns="0" rtlCol="0" anchor="ctr"/>
          <a:lstStyle/>
          <a:p>
            <a:pPr algn="r" indent="0" marL="0">
              <a:buNone/>
            </a:pPr>
            <a:r>
              <a:rPr lang="en-US" sz="1600" b="1" dirty="0">
                <a:solidFill>
                  <a:srgbClr val="A9B8D6"/>
                </a:solidFill>
                <a:latin typeface="Calibri" pitchFamily="34" charset="0"/>
                <a:ea typeface="Calibri" pitchFamily="34" charset="-122"/>
                <a:cs typeface="Calibri" pitchFamily="34" charset="-120"/>
              </a:rPr>
              <a:t>02</a:t>
            </a:r>
            <a:endParaRPr lang="en-US" sz="1600" dirty="0"/>
          </a:p>
        </p:txBody>
      </p:sp>
      <p:sp>
        <p:nvSpPr>
          <p:cNvPr id="13" name="Text 9"/>
          <p:cNvSpPr txBox="1"/>
          <p:nvPr/>
        </p:nvSpPr>
        <p:spPr>
          <a:xfrm>
            <a:off x="3602736" y="2377440"/>
            <a:ext cx="21945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Display</a:t>
            </a:r>
            <a:endParaRPr lang="en-US" sz="2000" dirty="0"/>
          </a:p>
        </p:txBody>
      </p:sp>
      <p:sp>
        <p:nvSpPr>
          <p:cNvPr id="14" name="Text 10"/>
          <p:cNvSpPr txBox="1"/>
          <p:nvPr/>
        </p:nvSpPr>
        <p:spPr>
          <a:xfrm>
            <a:off x="3602736" y="2761488"/>
            <a:ext cx="2194560" cy="685800"/>
          </a:xfrm>
          <a:prstGeom prst="rect">
            <a:avLst/>
          </a:prstGeom>
          <a:noFill/>
          <a:ln/>
        </p:spPr>
        <p:txBody>
          <a:bodyPr wrap="square" lIns="0" tIns="0" rIns="0" bIns="0" rtlCol="0" anchor="t"/>
          <a:lstStyle/>
          <a:p>
            <a:pPr indent="0" marL="0">
              <a:buNone/>
            </a:pPr>
            <a:r>
              <a:rPr lang="en-US" sz="1500" dirty="0">
                <a:solidFill>
                  <a:srgbClr val="A9B8D6"/>
                </a:solidFill>
                <a:latin typeface="Calibri" pitchFamily="34" charset="0"/>
                <a:ea typeface="Calibri" pitchFamily="34" charset="-122"/>
                <a:cs typeface="Calibri" pitchFamily="34" charset="-120"/>
              </a:rPr>
              <a:t>Show symbolic (rwx) and octal (755) values</a:t>
            </a:r>
            <a:endParaRPr lang="en-US" sz="1500" dirty="0"/>
          </a:p>
        </p:txBody>
      </p:sp>
      <p:sp>
        <p:nvSpPr>
          <p:cNvPr id="15" name="Objective card"/>
          <p:cNvSpPr/>
          <p:nvPr/>
        </p:nvSpPr>
        <p:spPr>
          <a:xfrm>
            <a:off x="6199632" y="1371600"/>
            <a:ext cx="2606040" cy="2194560"/>
          </a:xfrm>
          <a:prstGeom prst="roundRect">
            <a:avLst>
              <a:gd name="adj" fmla="val 5000"/>
            </a:avLst>
          </a:prstGeom>
          <a:solidFill>
            <a:srgbClr val="111B3A"/>
          </a:solidFill>
          <a:ln w="12700">
            <a:solidFill>
              <a:srgbClr val="1F3C7A"/>
            </a:solidFill>
            <a:prstDash val="solid"/>
          </a:ln>
        </p:spPr>
      </p:sp>
      <p:sp>
        <p:nvSpPr>
          <p:cNvPr id="16" name="Icon circle"/>
          <p:cNvSpPr/>
          <p:nvPr/>
        </p:nvSpPr>
        <p:spPr>
          <a:xfrm>
            <a:off x="6428232" y="1600200"/>
            <a:ext cx="640080" cy="640080"/>
          </a:xfrm>
          <a:prstGeom prst="ellipse">
            <a:avLst/>
          </a:prstGeom>
          <a:solidFill>
            <a:srgbClr val="0E3A6E"/>
          </a:solidFill>
          <a:ln w="12700">
            <a:solidFill>
              <a:srgbClr val="00B4FF"/>
            </a:solidFill>
            <a:prstDash val="solid"/>
          </a:ln>
        </p:spPr>
      </p:sp>
      <p:pic>
        <p:nvPicPr>
          <p:cNvPr id="17" name="Image 2" descr="Detect icon">    </p:cNvPr>
          <p:cNvPicPr>
            <a:picLocks noChangeAspect="1"/>
          </p:cNvPicPr>
          <p:nvPr/>
        </p:nvPicPr>
        <p:blipFill>
          <a:blip r:embed="rId3"/>
          <a:stretch>
            <a:fillRect/>
          </a:stretch>
        </p:blipFill>
        <p:spPr>
          <a:xfrm>
            <a:off x="6592824" y="1764792"/>
            <a:ext cx="310896" cy="310896"/>
          </a:xfrm>
          <a:prstGeom prst="rect">
            <a:avLst/>
          </a:prstGeom>
        </p:spPr>
      </p:pic>
      <p:sp>
        <p:nvSpPr>
          <p:cNvPr id="18" name="Text 13"/>
          <p:cNvSpPr txBox="1"/>
          <p:nvPr/>
        </p:nvSpPr>
        <p:spPr>
          <a:xfrm>
            <a:off x="8028432" y="1645920"/>
            <a:ext cx="548640" cy="320040"/>
          </a:xfrm>
          <a:prstGeom prst="rect">
            <a:avLst/>
          </a:prstGeom>
          <a:noFill/>
          <a:ln/>
        </p:spPr>
        <p:txBody>
          <a:bodyPr wrap="square" lIns="0" tIns="0" rIns="0" bIns="0" rtlCol="0" anchor="ctr"/>
          <a:lstStyle/>
          <a:p>
            <a:pPr algn="r" indent="0" marL="0">
              <a:buNone/>
            </a:pPr>
            <a:r>
              <a:rPr lang="en-US" sz="1600" b="1" dirty="0">
                <a:solidFill>
                  <a:srgbClr val="A9B8D6"/>
                </a:solidFill>
                <a:latin typeface="Calibri" pitchFamily="34" charset="0"/>
                <a:ea typeface="Calibri" pitchFamily="34" charset="-122"/>
                <a:cs typeface="Calibri" pitchFamily="34" charset="-120"/>
              </a:rPr>
              <a:t>03</a:t>
            </a:r>
            <a:endParaRPr lang="en-US" sz="1600" dirty="0"/>
          </a:p>
        </p:txBody>
      </p:sp>
      <p:sp>
        <p:nvSpPr>
          <p:cNvPr id="19" name="Text 14"/>
          <p:cNvSpPr txBox="1"/>
          <p:nvPr/>
        </p:nvSpPr>
        <p:spPr>
          <a:xfrm>
            <a:off x="6428232" y="2377440"/>
            <a:ext cx="21945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Detect</a:t>
            </a:r>
            <a:endParaRPr lang="en-US" sz="2000" dirty="0"/>
          </a:p>
        </p:txBody>
      </p:sp>
      <p:sp>
        <p:nvSpPr>
          <p:cNvPr id="20" name="Text 15"/>
          <p:cNvSpPr txBox="1"/>
          <p:nvPr/>
        </p:nvSpPr>
        <p:spPr>
          <a:xfrm>
            <a:off x="6428232" y="2761488"/>
            <a:ext cx="2194560" cy="685800"/>
          </a:xfrm>
          <a:prstGeom prst="rect">
            <a:avLst/>
          </a:prstGeom>
          <a:noFill/>
          <a:ln/>
        </p:spPr>
        <p:txBody>
          <a:bodyPr wrap="square" lIns="0" tIns="0" rIns="0" bIns="0" rtlCol="0" anchor="t"/>
          <a:lstStyle/>
          <a:p>
            <a:pPr indent="0" marL="0">
              <a:buNone/>
            </a:pPr>
            <a:r>
              <a:rPr lang="en-US" sz="1500" dirty="0">
                <a:solidFill>
                  <a:srgbClr val="A9B8D6"/>
                </a:solidFill>
                <a:latin typeface="Calibri" pitchFamily="34" charset="0"/>
                <a:ea typeface="Calibri" pitchFamily="34" charset="-122"/>
                <a:cs typeface="Calibri" pitchFamily="34" charset="-120"/>
              </a:rPr>
              <a:t>Find potentially insecure configurations</a:t>
            </a:r>
            <a:endParaRPr lang="en-US" sz="1500" dirty="0"/>
          </a:p>
        </p:txBody>
      </p:sp>
      <p:sp>
        <p:nvSpPr>
          <p:cNvPr id="21" name="Objective card"/>
          <p:cNvSpPr/>
          <p:nvPr/>
        </p:nvSpPr>
        <p:spPr>
          <a:xfrm>
            <a:off x="9025128" y="1371600"/>
            <a:ext cx="2606040" cy="2194560"/>
          </a:xfrm>
          <a:prstGeom prst="roundRect">
            <a:avLst>
              <a:gd name="adj" fmla="val 5000"/>
            </a:avLst>
          </a:prstGeom>
          <a:solidFill>
            <a:srgbClr val="111B3A"/>
          </a:solidFill>
          <a:ln w="12700">
            <a:solidFill>
              <a:srgbClr val="1F3C7A"/>
            </a:solidFill>
            <a:prstDash val="solid"/>
          </a:ln>
        </p:spPr>
      </p:sp>
      <p:sp>
        <p:nvSpPr>
          <p:cNvPr id="22" name="Icon circle"/>
          <p:cNvSpPr/>
          <p:nvPr/>
        </p:nvSpPr>
        <p:spPr>
          <a:xfrm>
            <a:off x="9253728" y="1600200"/>
            <a:ext cx="640080" cy="640080"/>
          </a:xfrm>
          <a:prstGeom prst="ellipse">
            <a:avLst/>
          </a:prstGeom>
          <a:solidFill>
            <a:srgbClr val="0E3A6E"/>
          </a:solidFill>
          <a:ln w="12700">
            <a:solidFill>
              <a:srgbClr val="00B4FF"/>
            </a:solidFill>
            <a:prstDash val="solid"/>
          </a:ln>
        </p:spPr>
      </p:sp>
      <p:pic>
        <p:nvPicPr>
          <p:cNvPr id="23" name="Image 3" descr="Classify icon">    </p:cNvPr>
          <p:cNvPicPr>
            <a:picLocks noChangeAspect="1"/>
          </p:cNvPicPr>
          <p:nvPr/>
        </p:nvPicPr>
        <p:blipFill>
          <a:blip r:embed="rId4"/>
          <a:stretch>
            <a:fillRect/>
          </a:stretch>
        </p:blipFill>
        <p:spPr>
          <a:xfrm>
            <a:off x="9418320" y="1764792"/>
            <a:ext cx="310896" cy="310896"/>
          </a:xfrm>
          <a:prstGeom prst="rect">
            <a:avLst/>
          </a:prstGeom>
        </p:spPr>
      </p:pic>
      <p:sp>
        <p:nvSpPr>
          <p:cNvPr id="24" name="Text 18"/>
          <p:cNvSpPr txBox="1"/>
          <p:nvPr/>
        </p:nvSpPr>
        <p:spPr>
          <a:xfrm>
            <a:off x="10853928" y="1645920"/>
            <a:ext cx="548640" cy="320040"/>
          </a:xfrm>
          <a:prstGeom prst="rect">
            <a:avLst/>
          </a:prstGeom>
          <a:noFill/>
          <a:ln/>
        </p:spPr>
        <p:txBody>
          <a:bodyPr wrap="square" lIns="0" tIns="0" rIns="0" bIns="0" rtlCol="0" anchor="ctr"/>
          <a:lstStyle/>
          <a:p>
            <a:pPr algn="r" indent="0" marL="0">
              <a:buNone/>
            </a:pPr>
            <a:r>
              <a:rPr lang="en-US" sz="1600" b="1" dirty="0">
                <a:solidFill>
                  <a:srgbClr val="A9B8D6"/>
                </a:solidFill>
                <a:latin typeface="Calibri" pitchFamily="34" charset="0"/>
                <a:ea typeface="Calibri" pitchFamily="34" charset="-122"/>
                <a:cs typeface="Calibri" pitchFamily="34" charset="-120"/>
              </a:rPr>
              <a:t>04</a:t>
            </a:r>
            <a:endParaRPr lang="en-US" sz="1600" dirty="0"/>
          </a:p>
        </p:txBody>
      </p:sp>
      <p:sp>
        <p:nvSpPr>
          <p:cNvPr id="25" name="Text 19"/>
          <p:cNvSpPr txBox="1"/>
          <p:nvPr/>
        </p:nvSpPr>
        <p:spPr>
          <a:xfrm>
            <a:off x="9253728" y="2377440"/>
            <a:ext cx="21945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Classify</a:t>
            </a:r>
            <a:endParaRPr lang="en-US" sz="2000" dirty="0"/>
          </a:p>
        </p:txBody>
      </p:sp>
      <p:sp>
        <p:nvSpPr>
          <p:cNvPr id="26" name="Text 20"/>
          <p:cNvSpPr txBox="1"/>
          <p:nvPr/>
        </p:nvSpPr>
        <p:spPr>
          <a:xfrm>
            <a:off x="9253728" y="2761488"/>
            <a:ext cx="2194560" cy="685800"/>
          </a:xfrm>
          <a:prstGeom prst="rect">
            <a:avLst/>
          </a:prstGeom>
          <a:noFill/>
          <a:ln/>
        </p:spPr>
        <p:txBody>
          <a:bodyPr wrap="square" lIns="0" tIns="0" rIns="0" bIns="0" rtlCol="0" anchor="t"/>
          <a:lstStyle/>
          <a:p>
            <a:pPr indent="0" marL="0">
              <a:buNone/>
            </a:pPr>
            <a:r>
              <a:rPr lang="en-US" sz="1500" dirty="0">
                <a:solidFill>
                  <a:srgbClr val="A9B8D6"/>
                </a:solidFill>
                <a:latin typeface="Calibri" pitchFamily="34" charset="0"/>
                <a:ea typeface="Calibri" pitchFamily="34" charset="-122"/>
                <a:cs typeface="Calibri" pitchFamily="34" charset="-120"/>
              </a:rPr>
              <a:t>Label findings by severity level</a:t>
            </a:r>
            <a:endParaRPr lang="en-US" sz="1500" dirty="0"/>
          </a:p>
        </p:txBody>
      </p:sp>
      <p:sp>
        <p:nvSpPr>
          <p:cNvPr id="27" name="Objective card"/>
          <p:cNvSpPr/>
          <p:nvPr/>
        </p:nvSpPr>
        <p:spPr>
          <a:xfrm>
            <a:off x="548640" y="3749040"/>
            <a:ext cx="2606040" cy="2194560"/>
          </a:xfrm>
          <a:prstGeom prst="roundRect">
            <a:avLst>
              <a:gd name="adj" fmla="val 5000"/>
            </a:avLst>
          </a:prstGeom>
          <a:solidFill>
            <a:srgbClr val="111B3A"/>
          </a:solidFill>
          <a:ln w="12700">
            <a:solidFill>
              <a:srgbClr val="1F3C7A"/>
            </a:solidFill>
            <a:prstDash val="solid"/>
          </a:ln>
        </p:spPr>
      </p:sp>
      <p:sp>
        <p:nvSpPr>
          <p:cNvPr id="28" name="Icon circle"/>
          <p:cNvSpPr/>
          <p:nvPr/>
        </p:nvSpPr>
        <p:spPr>
          <a:xfrm>
            <a:off x="777240" y="3977640"/>
            <a:ext cx="640080" cy="640080"/>
          </a:xfrm>
          <a:prstGeom prst="ellipse">
            <a:avLst/>
          </a:prstGeom>
          <a:solidFill>
            <a:srgbClr val="0E3A6E"/>
          </a:solidFill>
          <a:ln w="12700">
            <a:solidFill>
              <a:srgbClr val="00B4FF"/>
            </a:solidFill>
            <a:prstDash val="solid"/>
          </a:ln>
        </p:spPr>
      </p:sp>
      <p:pic>
        <p:nvPicPr>
          <p:cNvPr id="29" name="Image 4" descr="Recommend icon">    </p:cNvPr>
          <p:cNvPicPr>
            <a:picLocks noChangeAspect="1"/>
          </p:cNvPicPr>
          <p:nvPr/>
        </p:nvPicPr>
        <p:blipFill>
          <a:blip r:embed="rId5"/>
          <a:stretch>
            <a:fillRect/>
          </a:stretch>
        </p:blipFill>
        <p:spPr>
          <a:xfrm>
            <a:off x="941832" y="4142232"/>
            <a:ext cx="310896" cy="310896"/>
          </a:xfrm>
          <a:prstGeom prst="rect">
            <a:avLst/>
          </a:prstGeom>
        </p:spPr>
      </p:pic>
      <p:sp>
        <p:nvSpPr>
          <p:cNvPr id="30" name="Text 23"/>
          <p:cNvSpPr txBox="1"/>
          <p:nvPr/>
        </p:nvSpPr>
        <p:spPr>
          <a:xfrm>
            <a:off x="2377440" y="4023360"/>
            <a:ext cx="548640" cy="320040"/>
          </a:xfrm>
          <a:prstGeom prst="rect">
            <a:avLst/>
          </a:prstGeom>
          <a:noFill/>
          <a:ln/>
        </p:spPr>
        <p:txBody>
          <a:bodyPr wrap="square" lIns="0" tIns="0" rIns="0" bIns="0" rtlCol="0" anchor="ctr"/>
          <a:lstStyle/>
          <a:p>
            <a:pPr algn="r" indent="0" marL="0">
              <a:buNone/>
            </a:pPr>
            <a:r>
              <a:rPr lang="en-US" sz="1600" b="1" dirty="0">
                <a:solidFill>
                  <a:srgbClr val="A9B8D6"/>
                </a:solidFill>
                <a:latin typeface="Calibri" pitchFamily="34" charset="0"/>
                <a:ea typeface="Calibri" pitchFamily="34" charset="-122"/>
                <a:cs typeface="Calibri" pitchFamily="34" charset="-120"/>
              </a:rPr>
              <a:t>05</a:t>
            </a:r>
            <a:endParaRPr lang="en-US" sz="1600" dirty="0"/>
          </a:p>
        </p:txBody>
      </p:sp>
      <p:sp>
        <p:nvSpPr>
          <p:cNvPr id="31" name="Text 24"/>
          <p:cNvSpPr txBox="1"/>
          <p:nvPr/>
        </p:nvSpPr>
        <p:spPr>
          <a:xfrm>
            <a:off x="777240" y="4754880"/>
            <a:ext cx="21945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Recommend</a:t>
            </a:r>
            <a:endParaRPr lang="en-US" sz="2000" dirty="0"/>
          </a:p>
        </p:txBody>
      </p:sp>
      <p:sp>
        <p:nvSpPr>
          <p:cNvPr id="32" name="Text 25"/>
          <p:cNvSpPr txBox="1"/>
          <p:nvPr/>
        </p:nvSpPr>
        <p:spPr>
          <a:xfrm>
            <a:off x="777240" y="5138928"/>
            <a:ext cx="2194560" cy="685800"/>
          </a:xfrm>
          <a:prstGeom prst="rect">
            <a:avLst/>
          </a:prstGeom>
          <a:noFill/>
          <a:ln/>
        </p:spPr>
        <p:txBody>
          <a:bodyPr wrap="square" lIns="0" tIns="0" rIns="0" bIns="0" rtlCol="0" anchor="t"/>
          <a:lstStyle/>
          <a:p>
            <a:pPr indent="0" marL="0">
              <a:buNone/>
            </a:pPr>
            <a:r>
              <a:rPr lang="en-US" sz="1500" dirty="0">
                <a:solidFill>
                  <a:srgbClr val="A9B8D6"/>
                </a:solidFill>
                <a:latin typeface="Calibri" pitchFamily="34" charset="0"/>
                <a:ea typeface="Calibri" pitchFamily="34" charset="-122"/>
                <a:cs typeface="Calibri" pitchFamily="34" charset="-120"/>
              </a:rPr>
              <a:t>Give clear security suggestions</a:t>
            </a:r>
            <a:endParaRPr lang="en-US" sz="1500" dirty="0"/>
          </a:p>
        </p:txBody>
      </p:sp>
      <p:sp>
        <p:nvSpPr>
          <p:cNvPr id="33" name="Objective card"/>
          <p:cNvSpPr/>
          <p:nvPr/>
        </p:nvSpPr>
        <p:spPr>
          <a:xfrm>
            <a:off x="3374136" y="3749040"/>
            <a:ext cx="2606040" cy="2194560"/>
          </a:xfrm>
          <a:prstGeom prst="roundRect">
            <a:avLst>
              <a:gd name="adj" fmla="val 5000"/>
            </a:avLst>
          </a:prstGeom>
          <a:solidFill>
            <a:srgbClr val="111B3A"/>
          </a:solidFill>
          <a:ln w="12700">
            <a:solidFill>
              <a:srgbClr val="1F3C7A"/>
            </a:solidFill>
            <a:prstDash val="solid"/>
          </a:ln>
        </p:spPr>
      </p:sp>
      <p:sp>
        <p:nvSpPr>
          <p:cNvPr id="34" name="Icon circle"/>
          <p:cNvSpPr/>
          <p:nvPr/>
        </p:nvSpPr>
        <p:spPr>
          <a:xfrm>
            <a:off x="3602736" y="3977640"/>
            <a:ext cx="640080" cy="640080"/>
          </a:xfrm>
          <a:prstGeom prst="ellipse">
            <a:avLst/>
          </a:prstGeom>
          <a:solidFill>
            <a:srgbClr val="0E3A6E"/>
          </a:solidFill>
          <a:ln w="12700">
            <a:solidFill>
              <a:srgbClr val="00B4FF"/>
            </a:solidFill>
            <a:prstDash val="solid"/>
          </a:ln>
        </p:spPr>
      </p:sp>
      <p:pic>
        <p:nvPicPr>
          <p:cNvPr id="35" name="Image 5" descr="Scan icon">    </p:cNvPr>
          <p:cNvPicPr>
            <a:picLocks noChangeAspect="1"/>
          </p:cNvPicPr>
          <p:nvPr/>
        </p:nvPicPr>
        <p:blipFill>
          <a:blip r:embed="rId6"/>
          <a:stretch>
            <a:fillRect/>
          </a:stretch>
        </p:blipFill>
        <p:spPr>
          <a:xfrm>
            <a:off x="3767328" y="4142232"/>
            <a:ext cx="310896" cy="310896"/>
          </a:xfrm>
          <a:prstGeom prst="rect">
            <a:avLst/>
          </a:prstGeom>
        </p:spPr>
      </p:pic>
      <p:sp>
        <p:nvSpPr>
          <p:cNvPr id="36" name="Text 28"/>
          <p:cNvSpPr txBox="1"/>
          <p:nvPr/>
        </p:nvSpPr>
        <p:spPr>
          <a:xfrm>
            <a:off x="5202936" y="4023360"/>
            <a:ext cx="548640" cy="320040"/>
          </a:xfrm>
          <a:prstGeom prst="rect">
            <a:avLst/>
          </a:prstGeom>
          <a:noFill/>
          <a:ln/>
        </p:spPr>
        <p:txBody>
          <a:bodyPr wrap="square" lIns="0" tIns="0" rIns="0" bIns="0" rtlCol="0" anchor="ctr"/>
          <a:lstStyle/>
          <a:p>
            <a:pPr algn="r" indent="0" marL="0">
              <a:buNone/>
            </a:pPr>
            <a:r>
              <a:rPr lang="en-US" sz="1600" b="1" dirty="0">
                <a:solidFill>
                  <a:srgbClr val="A9B8D6"/>
                </a:solidFill>
                <a:latin typeface="Calibri" pitchFamily="34" charset="0"/>
                <a:ea typeface="Calibri" pitchFamily="34" charset="-122"/>
                <a:cs typeface="Calibri" pitchFamily="34" charset="-120"/>
              </a:rPr>
              <a:t>06</a:t>
            </a:r>
            <a:endParaRPr lang="en-US" sz="1600" dirty="0"/>
          </a:p>
        </p:txBody>
      </p:sp>
      <p:sp>
        <p:nvSpPr>
          <p:cNvPr id="37" name="Text 29"/>
          <p:cNvSpPr txBox="1"/>
          <p:nvPr/>
        </p:nvSpPr>
        <p:spPr>
          <a:xfrm>
            <a:off x="3602736" y="4754880"/>
            <a:ext cx="21945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Scan</a:t>
            </a:r>
            <a:endParaRPr lang="en-US" sz="2000" dirty="0"/>
          </a:p>
        </p:txBody>
      </p:sp>
      <p:sp>
        <p:nvSpPr>
          <p:cNvPr id="38" name="Text 30"/>
          <p:cNvSpPr txBox="1"/>
          <p:nvPr/>
        </p:nvSpPr>
        <p:spPr>
          <a:xfrm>
            <a:off x="3602736" y="5138928"/>
            <a:ext cx="2194560" cy="685800"/>
          </a:xfrm>
          <a:prstGeom prst="rect">
            <a:avLst/>
          </a:prstGeom>
          <a:noFill/>
          <a:ln/>
        </p:spPr>
        <p:txBody>
          <a:bodyPr wrap="square" lIns="0" tIns="0" rIns="0" bIns="0" rtlCol="0" anchor="t"/>
          <a:lstStyle/>
          <a:p>
            <a:pPr indent="0" marL="0">
              <a:buNone/>
            </a:pPr>
            <a:r>
              <a:rPr lang="en-US" sz="1500" dirty="0">
                <a:solidFill>
                  <a:srgbClr val="A9B8D6"/>
                </a:solidFill>
                <a:latin typeface="Calibri" pitchFamily="34" charset="0"/>
                <a:ea typeface="Calibri" pitchFamily="34" charset="-122"/>
                <a:cs typeface="Calibri" pitchFamily="34" charset="-120"/>
              </a:rPr>
              <a:t>Walk through directories and nested files</a:t>
            </a:r>
            <a:endParaRPr lang="en-US" sz="1500" dirty="0"/>
          </a:p>
        </p:txBody>
      </p:sp>
      <p:sp>
        <p:nvSpPr>
          <p:cNvPr id="39" name="Objective card"/>
          <p:cNvSpPr/>
          <p:nvPr/>
        </p:nvSpPr>
        <p:spPr>
          <a:xfrm>
            <a:off x="6199632" y="3749040"/>
            <a:ext cx="2606040" cy="2194560"/>
          </a:xfrm>
          <a:prstGeom prst="roundRect">
            <a:avLst>
              <a:gd name="adj" fmla="val 5000"/>
            </a:avLst>
          </a:prstGeom>
          <a:solidFill>
            <a:srgbClr val="111B3A"/>
          </a:solidFill>
          <a:ln w="12700">
            <a:solidFill>
              <a:srgbClr val="1F3C7A"/>
            </a:solidFill>
            <a:prstDash val="solid"/>
          </a:ln>
        </p:spPr>
      </p:sp>
      <p:sp>
        <p:nvSpPr>
          <p:cNvPr id="40" name="Icon circle"/>
          <p:cNvSpPr/>
          <p:nvPr/>
        </p:nvSpPr>
        <p:spPr>
          <a:xfrm>
            <a:off x="6428232" y="3977640"/>
            <a:ext cx="640080" cy="640080"/>
          </a:xfrm>
          <a:prstGeom prst="ellipse">
            <a:avLst/>
          </a:prstGeom>
          <a:solidFill>
            <a:srgbClr val="0E3A6E"/>
          </a:solidFill>
          <a:ln w="12700">
            <a:solidFill>
              <a:srgbClr val="00B4FF"/>
            </a:solidFill>
            <a:prstDash val="solid"/>
          </a:ln>
        </p:spPr>
      </p:sp>
      <p:pic>
        <p:nvPicPr>
          <p:cNvPr id="41" name="Image 6" descr="Report icon">    </p:cNvPr>
          <p:cNvPicPr>
            <a:picLocks noChangeAspect="1"/>
          </p:cNvPicPr>
          <p:nvPr/>
        </p:nvPicPr>
        <p:blipFill>
          <a:blip r:embed="rId7"/>
          <a:stretch>
            <a:fillRect/>
          </a:stretch>
        </p:blipFill>
        <p:spPr>
          <a:xfrm>
            <a:off x="6592824" y="4142232"/>
            <a:ext cx="310896" cy="310896"/>
          </a:xfrm>
          <a:prstGeom prst="rect">
            <a:avLst/>
          </a:prstGeom>
        </p:spPr>
      </p:pic>
      <p:sp>
        <p:nvSpPr>
          <p:cNvPr id="42" name="Text 33"/>
          <p:cNvSpPr txBox="1"/>
          <p:nvPr/>
        </p:nvSpPr>
        <p:spPr>
          <a:xfrm>
            <a:off x="8028432" y="4023360"/>
            <a:ext cx="548640" cy="320040"/>
          </a:xfrm>
          <a:prstGeom prst="rect">
            <a:avLst/>
          </a:prstGeom>
          <a:noFill/>
          <a:ln/>
        </p:spPr>
        <p:txBody>
          <a:bodyPr wrap="square" lIns="0" tIns="0" rIns="0" bIns="0" rtlCol="0" anchor="ctr"/>
          <a:lstStyle/>
          <a:p>
            <a:pPr algn="r" indent="0" marL="0">
              <a:buNone/>
            </a:pPr>
            <a:r>
              <a:rPr lang="en-US" sz="1600" b="1" dirty="0">
                <a:solidFill>
                  <a:srgbClr val="A9B8D6"/>
                </a:solidFill>
                <a:latin typeface="Calibri" pitchFamily="34" charset="0"/>
                <a:ea typeface="Calibri" pitchFamily="34" charset="-122"/>
                <a:cs typeface="Calibri" pitchFamily="34" charset="-120"/>
              </a:rPr>
              <a:t>07</a:t>
            </a:r>
            <a:endParaRPr lang="en-US" sz="1600" dirty="0"/>
          </a:p>
        </p:txBody>
      </p:sp>
      <p:sp>
        <p:nvSpPr>
          <p:cNvPr id="43" name="Text 34"/>
          <p:cNvSpPr txBox="1"/>
          <p:nvPr/>
        </p:nvSpPr>
        <p:spPr>
          <a:xfrm>
            <a:off x="6428232" y="4754880"/>
            <a:ext cx="219456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Report</a:t>
            </a:r>
            <a:endParaRPr lang="en-US" sz="2000" dirty="0"/>
          </a:p>
        </p:txBody>
      </p:sp>
      <p:sp>
        <p:nvSpPr>
          <p:cNvPr id="44" name="Text 35"/>
          <p:cNvSpPr txBox="1"/>
          <p:nvPr/>
        </p:nvSpPr>
        <p:spPr>
          <a:xfrm>
            <a:off x="6428232" y="5138928"/>
            <a:ext cx="2194560" cy="685800"/>
          </a:xfrm>
          <a:prstGeom prst="rect">
            <a:avLst/>
          </a:prstGeom>
          <a:noFill/>
          <a:ln/>
        </p:spPr>
        <p:txBody>
          <a:bodyPr wrap="square" lIns="0" tIns="0" rIns="0" bIns="0" rtlCol="0" anchor="t"/>
          <a:lstStyle/>
          <a:p>
            <a:pPr indent="0" marL="0">
              <a:buNone/>
            </a:pPr>
            <a:r>
              <a:rPr lang="en-US" sz="1500" dirty="0">
                <a:solidFill>
                  <a:srgbClr val="A9B8D6"/>
                </a:solidFill>
                <a:latin typeface="Calibri" pitchFamily="34" charset="0"/>
                <a:ea typeface="Calibri" pitchFamily="34" charset="-122"/>
                <a:cs typeface="Calibri" pitchFamily="34" charset="-120"/>
              </a:rPr>
              <a:t>Create readable security reports</a:t>
            </a:r>
            <a:endParaRPr lang="en-US" sz="1500" dirty="0"/>
          </a:p>
        </p:txBody>
      </p:sp>
      <p:sp>
        <p:nvSpPr>
          <p:cNvPr id="45" name="Summary card"/>
          <p:cNvSpPr/>
          <p:nvPr/>
        </p:nvSpPr>
        <p:spPr>
          <a:xfrm>
            <a:off x="9025128" y="3749040"/>
            <a:ext cx="2606040" cy="2194560"/>
          </a:xfrm>
          <a:prstGeom prst="roundRect">
            <a:avLst>
              <a:gd name="adj" fmla="val 5000"/>
            </a:avLst>
          </a:prstGeom>
          <a:solidFill>
            <a:srgbClr val="0B5C99"/>
          </a:solidFill>
          <a:ln w="19050">
            <a:solidFill>
              <a:srgbClr val="00B4FF"/>
            </a:solidFill>
            <a:prstDash val="solid"/>
          </a:ln>
        </p:spPr>
      </p:sp>
      <p:pic>
        <p:nvPicPr>
          <p:cNvPr id="46" name="Image 7" descr="Shield icon">    </p:cNvPr>
          <p:cNvPicPr>
            <a:picLocks noChangeAspect="1"/>
          </p:cNvPicPr>
          <p:nvPr/>
        </p:nvPicPr>
        <p:blipFill>
          <a:blip r:embed="rId8"/>
          <a:stretch>
            <a:fillRect/>
          </a:stretch>
        </p:blipFill>
        <p:spPr>
          <a:xfrm>
            <a:off x="9893808" y="3931920"/>
            <a:ext cx="868680" cy="868680"/>
          </a:xfrm>
          <a:prstGeom prst="rect">
            <a:avLst/>
          </a:prstGeom>
        </p:spPr>
      </p:pic>
      <p:sp>
        <p:nvSpPr>
          <p:cNvPr id="47" name="Text 37"/>
          <p:cNvSpPr txBox="1"/>
          <p:nvPr/>
        </p:nvSpPr>
        <p:spPr>
          <a:xfrm>
            <a:off x="9162288" y="4937760"/>
            <a:ext cx="233172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Inspect · Detect · Report</a:t>
            </a:r>
            <a:endParaRPr lang="en-US" sz="18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9B8D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How Our System Works</a:t>
            </a:r>
            <a:endParaRPr lang="en-US" sz="3400" dirty="0"/>
          </a:p>
        </p:txBody>
      </p:sp>
      <p:sp>
        <p:nvSpPr>
          <p:cNvPr id="3" name="Stage 1"/>
          <p:cNvSpPr/>
          <p:nvPr/>
        </p:nvSpPr>
        <p:spPr>
          <a:xfrm>
            <a:off x="548640" y="1325880"/>
            <a:ext cx="3383280" cy="1097280"/>
          </a:xfrm>
          <a:prstGeom prst="roundRect">
            <a:avLst>
              <a:gd name="adj" fmla="val 10000"/>
            </a:avLst>
          </a:prstGeom>
          <a:solidFill>
            <a:srgbClr val="111B3A"/>
          </a:solidFill>
          <a:ln w="19050">
            <a:solidFill>
              <a:srgbClr val="00B4FF"/>
            </a:solidFill>
            <a:prstDash val="solid"/>
          </a:ln>
        </p:spPr>
      </p:sp>
      <p:sp>
        <p:nvSpPr>
          <p:cNvPr id="4" name="Stage number"/>
          <p:cNvSpPr/>
          <p:nvPr/>
        </p:nvSpPr>
        <p:spPr>
          <a:xfrm>
            <a:off x="685800" y="1645920"/>
            <a:ext cx="457200" cy="457200"/>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800" b="1" dirty="0">
                <a:solidFill>
                  <a:srgbClr val="0A1128"/>
                </a:solidFill>
                <a:latin typeface="Calibri" pitchFamily="34" charset="0"/>
                <a:ea typeface="Calibri" pitchFamily="34" charset="-122"/>
                <a:cs typeface="Calibri" pitchFamily="34" charset="-120"/>
              </a:rPr>
              <a:t>1</a:t>
            </a:r>
            <a:endParaRPr lang="en-US" sz="1800" dirty="0"/>
          </a:p>
        </p:txBody>
      </p:sp>
      <p:sp>
        <p:nvSpPr>
          <p:cNvPr id="5" name="Text 3"/>
          <p:cNvSpPr txBox="1"/>
          <p:nvPr/>
        </p:nvSpPr>
        <p:spPr>
          <a:xfrm>
            <a:off x="1280160" y="1435608"/>
            <a:ext cx="26060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User Input</a:t>
            </a:r>
            <a:endParaRPr lang="en-US" sz="1700" dirty="0"/>
          </a:p>
        </p:txBody>
      </p:sp>
      <p:sp>
        <p:nvSpPr>
          <p:cNvPr id="6" name="Text 4"/>
          <p:cNvSpPr txBox="1"/>
          <p:nvPr/>
        </p:nvSpPr>
        <p:spPr>
          <a:xfrm>
            <a:off x="1280160" y="1801368"/>
            <a:ext cx="2560320" cy="548640"/>
          </a:xfrm>
          <a:prstGeom prst="rect">
            <a:avLst/>
          </a:prstGeom>
          <a:noFill/>
          <a:ln/>
        </p:spPr>
        <p:txBody>
          <a:bodyPr wrap="square" lIns="0" tIns="0" rIns="0" bIns="0" rtlCol="0" anchor="t"/>
          <a:lstStyle/>
          <a:p>
            <a:pPr indent="0" marL="0">
              <a:buNone/>
            </a:pPr>
            <a:r>
              <a:rPr lang="en-US" sz="1400" dirty="0">
                <a:solidFill>
                  <a:srgbClr val="A9B8D6"/>
                </a:solidFill>
                <a:latin typeface="Calibri" pitchFamily="34" charset="0"/>
                <a:ea typeface="Calibri" pitchFamily="34" charset="-122"/>
                <a:cs typeface="Calibri" pitchFamily="34" charset="-120"/>
              </a:rPr>
              <a:t>User gives a file or folder path</a:t>
            </a:r>
            <a:endParaRPr lang="en-US" sz="1400" dirty="0"/>
          </a:p>
        </p:txBody>
      </p:sp>
      <p:sp>
        <p:nvSpPr>
          <p:cNvPr id="7" name="Stage 2"/>
          <p:cNvSpPr/>
          <p:nvPr/>
        </p:nvSpPr>
        <p:spPr>
          <a:xfrm>
            <a:off x="4389120" y="1325880"/>
            <a:ext cx="3383280" cy="1097280"/>
          </a:xfrm>
          <a:prstGeom prst="roundRect">
            <a:avLst>
              <a:gd name="adj" fmla="val 10000"/>
            </a:avLst>
          </a:prstGeom>
          <a:solidFill>
            <a:srgbClr val="111B3A"/>
          </a:solidFill>
          <a:ln w="19050">
            <a:solidFill>
              <a:srgbClr val="00B4FF"/>
            </a:solidFill>
            <a:prstDash val="solid"/>
          </a:ln>
        </p:spPr>
      </p:sp>
      <p:sp>
        <p:nvSpPr>
          <p:cNvPr id="8" name="Stage number"/>
          <p:cNvSpPr/>
          <p:nvPr/>
        </p:nvSpPr>
        <p:spPr>
          <a:xfrm>
            <a:off x="4526280" y="1645920"/>
            <a:ext cx="457200" cy="457200"/>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800" b="1" dirty="0">
                <a:solidFill>
                  <a:srgbClr val="0A1128"/>
                </a:solidFill>
                <a:latin typeface="Calibri" pitchFamily="34" charset="0"/>
                <a:ea typeface="Calibri" pitchFamily="34" charset="-122"/>
                <a:cs typeface="Calibri" pitchFamily="34" charset="-120"/>
              </a:rPr>
              <a:t>2</a:t>
            </a:r>
            <a:endParaRPr lang="en-US" sz="1800" dirty="0"/>
          </a:p>
        </p:txBody>
      </p:sp>
      <p:sp>
        <p:nvSpPr>
          <p:cNvPr id="9" name="Text 7"/>
          <p:cNvSpPr txBox="1"/>
          <p:nvPr/>
        </p:nvSpPr>
        <p:spPr>
          <a:xfrm>
            <a:off x="5120640" y="1435608"/>
            <a:ext cx="26060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Terminal Interface</a:t>
            </a:r>
            <a:endParaRPr lang="en-US" sz="1700" dirty="0"/>
          </a:p>
        </p:txBody>
      </p:sp>
      <p:sp>
        <p:nvSpPr>
          <p:cNvPr id="10" name="Text 8"/>
          <p:cNvSpPr txBox="1"/>
          <p:nvPr/>
        </p:nvSpPr>
        <p:spPr>
          <a:xfrm>
            <a:off x="5120640" y="1801368"/>
            <a:ext cx="2560320" cy="548640"/>
          </a:xfrm>
          <a:prstGeom prst="rect">
            <a:avLst/>
          </a:prstGeom>
          <a:noFill/>
          <a:ln/>
        </p:spPr>
        <p:txBody>
          <a:bodyPr wrap="square" lIns="0" tIns="0" rIns="0" bIns="0" rtlCol="0" anchor="t"/>
          <a:lstStyle/>
          <a:p>
            <a:pPr indent="0" marL="0">
              <a:buNone/>
            </a:pPr>
            <a:r>
              <a:rPr lang="en-US" sz="1400" dirty="0">
                <a:solidFill>
                  <a:srgbClr val="A9B8D6"/>
                </a:solidFill>
                <a:latin typeface="Calibri" pitchFamily="34" charset="0"/>
                <a:ea typeface="Calibri" pitchFamily="34" charset="-122"/>
                <a:cs typeface="Calibri" pitchFamily="34" charset="-120"/>
              </a:rPr>
              <a:t>Where the user runs the tool</a:t>
            </a:r>
            <a:endParaRPr lang="en-US" sz="1400" dirty="0"/>
          </a:p>
        </p:txBody>
      </p:sp>
      <p:sp>
        <p:nvSpPr>
          <p:cNvPr id="11" name="Stage 3"/>
          <p:cNvSpPr/>
          <p:nvPr/>
        </p:nvSpPr>
        <p:spPr>
          <a:xfrm>
            <a:off x="8229600" y="1325880"/>
            <a:ext cx="3383280" cy="1097280"/>
          </a:xfrm>
          <a:prstGeom prst="roundRect">
            <a:avLst>
              <a:gd name="adj" fmla="val 10000"/>
            </a:avLst>
          </a:prstGeom>
          <a:solidFill>
            <a:srgbClr val="111B3A"/>
          </a:solidFill>
          <a:ln w="19050">
            <a:solidFill>
              <a:srgbClr val="00B4FF"/>
            </a:solidFill>
            <a:prstDash val="solid"/>
          </a:ln>
        </p:spPr>
      </p:sp>
      <p:sp>
        <p:nvSpPr>
          <p:cNvPr id="12" name="Stage number"/>
          <p:cNvSpPr/>
          <p:nvPr/>
        </p:nvSpPr>
        <p:spPr>
          <a:xfrm>
            <a:off x="8366760" y="1645920"/>
            <a:ext cx="457200" cy="457200"/>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800" b="1" dirty="0">
                <a:solidFill>
                  <a:srgbClr val="0A1128"/>
                </a:solidFill>
                <a:latin typeface="Calibri" pitchFamily="34" charset="0"/>
                <a:ea typeface="Calibri" pitchFamily="34" charset="-122"/>
                <a:cs typeface="Calibri" pitchFamily="34" charset="-120"/>
              </a:rPr>
              <a:t>3</a:t>
            </a:r>
            <a:endParaRPr lang="en-US" sz="1800" dirty="0"/>
          </a:p>
        </p:txBody>
      </p:sp>
      <p:sp>
        <p:nvSpPr>
          <p:cNvPr id="13" name="Text 11"/>
          <p:cNvSpPr txBox="1"/>
          <p:nvPr/>
        </p:nvSpPr>
        <p:spPr>
          <a:xfrm>
            <a:off x="8961120" y="1435608"/>
            <a:ext cx="26060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Path Validation</a:t>
            </a:r>
            <a:endParaRPr lang="en-US" sz="1700" dirty="0"/>
          </a:p>
        </p:txBody>
      </p:sp>
      <p:sp>
        <p:nvSpPr>
          <p:cNvPr id="14" name="Text 12"/>
          <p:cNvSpPr txBox="1"/>
          <p:nvPr/>
        </p:nvSpPr>
        <p:spPr>
          <a:xfrm>
            <a:off x="8961120" y="1801368"/>
            <a:ext cx="2560320" cy="548640"/>
          </a:xfrm>
          <a:prstGeom prst="rect">
            <a:avLst/>
          </a:prstGeom>
          <a:noFill/>
          <a:ln/>
        </p:spPr>
        <p:txBody>
          <a:bodyPr wrap="square" lIns="0" tIns="0" rIns="0" bIns="0" rtlCol="0" anchor="t"/>
          <a:lstStyle/>
          <a:p>
            <a:pPr indent="0" marL="0">
              <a:buNone/>
            </a:pPr>
            <a:r>
              <a:rPr lang="en-US" sz="1400" dirty="0">
                <a:solidFill>
                  <a:srgbClr val="A9B8D6"/>
                </a:solidFill>
                <a:latin typeface="Calibri" pitchFamily="34" charset="0"/>
                <a:ea typeface="Calibri" pitchFamily="34" charset="-122"/>
                <a:cs typeface="Calibri" pitchFamily="34" charset="-120"/>
              </a:rPr>
              <a:t>Checks the path exists; handles errors</a:t>
            </a:r>
            <a:endParaRPr lang="en-US" sz="1400" dirty="0"/>
          </a:p>
        </p:txBody>
      </p:sp>
      <p:sp>
        <p:nvSpPr>
          <p:cNvPr id="15" name="Stage 4"/>
          <p:cNvSpPr/>
          <p:nvPr/>
        </p:nvSpPr>
        <p:spPr>
          <a:xfrm>
            <a:off x="8229600" y="2788920"/>
            <a:ext cx="3383280" cy="1097280"/>
          </a:xfrm>
          <a:prstGeom prst="roundRect">
            <a:avLst>
              <a:gd name="adj" fmla="val 10000"/>
            </a:avLst>
          </a:prstGeom>
          <a:solidFill>
            <a:srgbClr val="111B3A"/>
          </a:solidFill>
          <a:ln w="19050">
            <a:solidFill>
              <a:srgbClr val="00B4FF"/>
            </a:solidFill>
            <a:prstDash val="solid"/>
          </a:ln>
        </p:spPr>
      </p:sp>
      <p:sp>
        <p:nvSpPr>
          <p:cNvPr id="16" name="Stage number"/>
          <p:cNvSpPr/>
          <p:nvPr/>
        </p:nvSpPr>
        <p:spPr>
          <a:xfrm>
            <a:off x="8366760" y="3108960"/>
            <a:ext cx="457200" cy="457200"/>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800" b="1" dirty="0">
                <a:solidFill>
                  <a:srgbClr val="0A1128"/>
                </a:solidFill>
                <a:latin typeface="Calibri" pitchFamily="34" charset="0"/>
                <a:ea typeface="Calibri" pitchFamily="34" charset="-122"/>
                <a:cs typeface="Calibri" pitchFamily="34" charset="-120"/>
              </a:rPr>
              <a:t>4</a:t>
            </a:r>
            <a:endParaRPr lang="en-US" sz="1800" dirty="0"/>
          </a:p>
        </p:txBody>
      </p:sp>
      <p:sp>
        <p:nvSpPr>
          <p:cNvPr id="17" name="Text 15"/>
          <p:cNvSpPr txBox="1"/>
          <p:nvPr/>
        </p:nvSpPr>
        <p:spPr>
          <a:xfrm>
            <a:off x="8961120" y="2898648"/>
            <a:ext cx="26060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Metadata Collection</a:t>
            </a:r>
            <a:endParaRPr lang="en-US" sz="1700" dirty="0"/>
          </a:p>
        </p:txBody>
      </p:sp>
      <p:sp>
        <p:nvSpPr>
          <p:cNvPr id="18" name="Text 16"/>
          <p:cNvSpPr txBox="1"/>
          <p:nvPr/>
        </p:nvSpPr>
        <p:spPr>
          <a:xfrm>
            <a:off x="8961120" y="3264408"/>
            <a:ext cx="2560320" cy="548640"/>
          </a:xfrm>
          <a:prstGeom prst="rect">
            <a:avLst/>
          </a:prstGeom>
          <a:noFill/>
          <a:ln/>
        </p:spPr>
        <p:txBody>
          <a:bodyPr wrap="square" lIns="0" tIns="0" rIns="0" bIns="0" rtlCol="0" anchor="t"/>
          <a:lstStyle/>
          <a:p>
            <a:pPr indent="0" marL="0">
              <a:buNone/>
            </a:pPr>
            <a:r>
              <a:rPr lang="en-US" sz="1400" dirty="0">
                <a:solidFill>
                  <a:srgbClr val="A9B8D6"/>
                </a:solidFill>
                <a:latin typeface="Calibri" pitchFamily="34" charset="0"/>
                <a:ea typeface="Calibri" pitchFamily="34" charset="-122"/>
                <a:cs typeface="Calibri" pitchFamily="34" charset="-120"/>
              </a:rPr>
              <a:t>Reads file details with stat() / lstat()</a:t>
            </a:r>
            <a:endParaRPr lang="en-US" sz="1400" dirty="0"/>
          </a:p>
        </p:txBody>
      </p:sp>
      <p:sp>
        <p:nvSpPr>
          <p:cNvPr id="19" name="Stage 5"/>
          <p:cNvSpPr/>
          <p:nvPr/>
        </p:nvSpPr>
        <p:spPr>
          <a:xfrm>
            <a:off x="4389120" y="2788920"/>
            <a:ext cx="3383280" cy="1097280"/>
          </a:xfrm>
          <a:prstGeom prst="roundRect">
            <a:avLst>
              <a:gd name="adj" fmla="val 10000"/>
            </a:avLst>
          </a:prstGeom>
          <a:solidFill>
            <a:srgbClr val="111B3A"/>
          </a:solidFill>
          <a:ln w="19050">
            <a:solidFill>
              <a:srgbClr val="00B4FF"/>
            </a:solidFill>
            <a:prstDash val="solid"/>
          </a:ln>
        </p:spPr>
      </p:sp>
      <p:sp>
        <p:nvSpPr>
          <p:cNvPr id="20" name="Stage number"/>
          <p:cNvSpPr/>
          <p:nvPr/>
        </p:nvSpPr>
        <p:spPr>
          <a:xfrm>
            <a:off x="4526280" y="3108960"/>
            <a:ext cx="457200" cy="457200"/>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800" b="1" dirty="0">
                <a:solidFill>
                  <a:srgbClr val="0A1128"/>
                </a:solidFill>
                <a:latin typeface="Calibri" pitchFamily="34" charset="0"/>
                <a:ea typeface="Calibri" pitchFamily="34" charset="-122"/>
                <a:cs typeface="Calibri" pitchFamily="34" charset="-120"/>
              </a:rPr>
              <a:t>5</a:t>
            </a:r>
            <a:endParaRPr lang="en-US" sz="1800" dirty="0"/>
          </a:p>
        </p:txBody>
      </p:sp>
      <p:sp>
        <p:nvSpPr>
          <p:cNvPr id="21" name="Text 19"/>
          <p:cNvSpPr txBox="1"/>
          <p:nvPr/>
        </p:nvSpPr>
        <p:spPr>
          <a:xfrm>
            <a:off x="5120640" y="2898648"/>
            <a:ext cx="26060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Permission Analysis</a:t>
            </a:r>
            <a:endParaRPr lang="en-US" sz="1700" dirty="0"/>
          </a:p>
        </p:txBody>
      </p:sp>
      <p:sp>
        <p:nvSpPr>
          <p:cNvPr id="22" name="Text 20"/>
          <p:cNvSpPr txBox="1"/>
          <p:nvPr/>
        </p:nvSpPr>
        <p:spPr>
          <a:xfrm>
            <a:off x="5120640" y="3264408"/>
            <a:ext cx="2560320" cy="548640"/>
          </a:xfrm>
          <a:prstGeom prst="rect">
            <a:avLst/>
          </a:prstGeom>
          <a:noFill/>
          <a:ln/>
        </p:spPr>
        <p:txBody>
          <a:bodyPr wrap="square" lIns="0" tIns="0" rIns="0" bIns="0" rtlCol="0" anchor="t"/>
          <a:lstStyle/>
          <a:p>
            <a:pPr indent="0" marL="0">
              <a:buNone/>
            </a:pPr>
            <a:r>
              <a:rPr lang="en-US" sz="1400" dirty="0">
                <a:solidFill>
                  <a:srgbClr val="A9B8D6"/>
                </a:solidFill>
                <a:latin typeface="Calibri" pitchFamily="34" charset="0"/>
                <a:ea typeface="Calibri" pitchFamily="34" charset="-122"/>
                <a:cs typeface="Calibri" pitchFamily="34" charset="-120"/>
              </a:rPr>
              <a:t>Decodes mode bits into rwx and octal</a:t>
            </a:r>
            <a:endParaRPr lang="en-US" sz="1400" dirty="0"/>
          </a:p>
        </p:txBody>
      </p:sp>
      <p:sp>
        <p:nvSpPr>
          <p:cNvPr id="23" name="Stage 6"/>
          <p:cNvSpPr/>
          <p:nvPr/>
        </p:nvSpPr>
        <p:spPr>
          <a:xfrm>
            <a:off x="548640" y="2788920"/>
            <a:ext cx="3383280" cy="1097280"/>
          </a:xfrm>
          <a:prstGeom prst="roundRect">
            <a:avLst>
              <a:gd name="adj" fmla="val 10000"/>
            </a:avLst>
          </a:prstGeom>
          <a:solidFill>
            <a:srgbClr val="111B3A"/>
          </a:solidFill>
          <a:ln w="19050">
            <a:solidFill>
              <a:srgbClr val="00B4FF"/>
            </a:solidFill>
            <a:prstDash val="solid"/>
          </a:ln>
        </p:spPr>
      </p:sp>
      <p:sp>
        <p:nvSpPr>
          <p:cNvPr id="24" name="Stage number"/>
          <p:cNvSpPr/>
          <p:nvPr/>
        </p:nvSpPr>
        <p:spPr>
          <a:xfrm>
            <a:off x="685800" y="3108960"/>
            <a:ext cx="457200" cy="457200"/>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800" b="1" dirty="0">
                <a:solidFill>
                  <a:srgbClr val="0A1128"/>
                </a:solidFill>
                <a:latin typeface="Calibri" pitchFamily="34" charset="0"/>
                <a:ea typeface="Calibri" pitchFamily="34" charset="-122"/>
                <a:cs typeface="Calibri" pitchFamily="34" charset="-120"/>
              </a:rPr>
              <a:t>6</a:t>
            </a:r>
            <a:endParaRPr lang="en-US" sz="1800" dirty="0"/>
          </a:p>
        </p:txBody>
      </p:sp>
      <p:sp>
        <p:nvSpPr>
          <p:cNvPr id="25" name="Text 23"/>
          <p:cNvSpPr txBox="1"/>
          <p:nvPr/>
        </p:nvSpPr>
        <p:spPr>
          <a:xfrm>
            <a:off x="1280160" y="2898648"/>
            <a:ext cx="26060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Security Rule Engine</a:t>
            </a:r>
            <a:endParaRPr lang="en-US" sz="1700" dirty="0"/>
          </a:p>
        </p:txBody>
      </p:sp>
      <p:sp>
        <p:nvSpPr>
          <p:cNvPr id="26" name="Text 24"/>
          <p:cNvSpPr txBox="1"/>
          <p:nvPr/>
        </p:nvSpPr>
        <p:spPr>
          <a:xfrm>
            <a:off x="1280160" y="3264408"/>
            <a:ext cx="2560320" cy="548640"/>
          </a:xfrm>
          <a:prstGeom prst="rect">
            <a:avLst/>
          </a:prstGeom>
          <a:noFill/>
          <a:ln/>
        </p:spPr>
        <p:txBody>
          <a:bodyPr wrap="square" lIns="0" tIns="0" rIns="0" bIns="0" rtlCol="0" anchor="t"/>
          <a:lstStyle/>
          <a:p>
            <a:pPr indent="0" marL="0">
              <a:buNone/>
            </a:pPr>
            <a:r>
              <a:rPr lang="en-US" sz="1400" dirty="0">
                <a:solidFill>
                  <a:srgbClr val="A9B8D6"/>
                </a:solidFill>
                <a:latin typeface="Calibri" pitchFamily="34" charset="0"/>
                <a:ea typeface="Calibri" pitchFamily="34" charset="-122"/>
                <a:cs typeface="Calibri" pitchFamily="34" charset="-120"/>
              </a:rPr>
              <a:t>Applies predefined permission rules</a:t>
            </a:r>
            <a:endParaRPr lang="en-US" sz="1400" dirty="0"/>
          </a:p>
        </p:txBody>
      </p:sp>
      <p:sp>
        <p:nvSpPr>
          <p:cNvPr id="27" name="Stage 7"/>
          <p:cNvSpPr/>
          <p:nvPr/>
        </p:nvSpPr>
        <p:spPr>
          <a:xfrm>
            <a:off x="548640" y="4251960"/>
            <a:ext cx="3383280" cy="1097280"/>
          </a:xfrm>
          <a:prstGeom prst="roundRect">
            <a:avLst>
              <a:gd name="adj" fmla="val 10000"/>
            </a:avLst>
          </a:prstGeom>
          <a:solidFill>
            <a:srgbClr val="111B3A"/>
          </a:solidFill>
          <a:ln w="19050">
            <a:solidFill>
              <a:srgbClr val="00B4FF"/>
            </a:solidFill>
            <a:prstDash val="solid"/>
          </a:ln>
        </p:spPr>
      </p:sp>
      <p:sp>
        <p:nvSpPr>
          <p:cNvPr id="28" name="Stage number"/>
          <p:cNvSpPr/>
          <p:nvPr/>
        </p:nvSpPr>
        <p:spPr>
          <a:xfrm>
            <a:off x="685800" y="4572000"/>
            <a:ext cx="457200" cy="457200"/>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800" b="1" dirty="0">
                <a:solidFill>
                  <a:srgbClr val="0A1128"/>
                </a:solidFill>
                <a:latin typeface="Calibri" pitchFamily="34" charset="0"/>
                <a:ea typeface="Calibri" pitchFamily="34" charset="-122"/>
                <a:cs typeface="Calibri" pitchFamily="34" charset="-120"/>
              </a:rPr>
              <a:t>7</a:t>
            </a:r>
            <a:endParaRPr lang="en-US" sz="1800" dirty="0"/>
          </a:p>
        </p:txBody>
      </p:sp>
      <p:sp>
        <p:nvSpPr>
          <p:cNvPr id="29" name="Text 27"/>
          <p:cNvSpPr txBox="1"/>
          <p:nvPr/>
        </p:nvSpPr>
        <p:spPr>
          <a:xfrm>
            <a:off x="1280160" y="4361688"/>
            <a:ext cx="26060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Severity Classification</a:t>
            </a:r>
            <a:endParaRPr lang="en-US" sz="1700" dirty="0"/>
          </a:p>
        </p:txBody>
      </p:sp>
      <p:sp>
        <p:nvSpPr>
          <p:cNvPr id="30" name="Text 28"/>
          <p:cNvSpPr txBox="1"/>
          <p:nvPr/>
        </p:nvSpPr>
        <p:spPr>
          <a:xfrm>
            <a:off x="1280160" y="4727448"/>
            <a:ext cx="2560320" cy="548640"/>
          </a:xfrm>
          <a:prstGeom prst="rect">
            <a:avLst/>
          </a:prstGeom>
          <a:noFill/>
          <a:ln/>
        </p:spPr>
        <p:txBody>
          <a:bodyPr wrap="square" lIns="0" tIns="0" rIns="0" bIns="0" rtlCol="0" anchor="t"/>
          <a:lstStyle/>
          <a:p>
            <a:pPr indent="0" marL="0">
              <a:buNone/>
            </a:pPr>
            <a:r>
              <a:rPr lang="en-US" sz="1400" dirty="0">
                <a:solidFill>
                  <a:srgbClr val="A9B8D6"/>
                </a:solidFill>
                <a:latin typeface="Calibri" pitchFamily="34" charset="0"/>
                <a:ea typeface="Calibri" pitchFamily="34" charset="-122"/>
                <a:cs typeface="Calibri" pitchFamily="34" charset="-120"/>
              </a:rPr>
              <a:t>Marks findings Low, Medium or High</a:t>
            </a:r>
            <a:endParaRPr lang="en-US" sz="1400" dirty="0"/>
          </a:p>
        </p:txBody>
      </p:sp>
      <p:sp>
        <p:nvSpPr>
          <p:cNvPr id="31" name="Stage 8"/>
          <p:cNvSpPr/>
          <p:nvPr/>
        </p:nvSpPr>
        <p:spPr>
          <a:xfrm>
            <a:off x="4389120" y="4251960"/>
            <a:ext cx="3383280" cy="1097280"/>
          </a:xfrm>
          <a:prstGeom prst="roundRect">
            <a:avLst>
              <a:gd name="adj" fmla="val 10000"/>
            </a:avLst>
          </a:prstGeom>
          <a:solidFill>
            <a:srgbClr val="111B3A"/>
          </a:solidFill>
          <a:ln w="19050">
            <a:solidFill>
              <a:srgbClr val="00B4FF"/>
            </a:solidFill>
            <a:prstDash val="solid"/>
          </a:ln>
        </p:spPr>
      </p:sp>
      <p:sp>
        <p:nvSpPr>
          <p:cNvPr id="32" name="Stage number"/>
          <p:cNvSpPr/>
          <p:nvPr/>
        </p:nvSpPr>
        <p:spPr>
          <a:xfrm>
            <a:off x="4526280" y="4572000"/>
            <a:ext cx="457200" cy="457200"/>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800" b="1" dirty="0">
                <a:solidFill>
                  <a:srgbClr val="0A1128"/>
                </a:solidFill>
                <a:latin typeface="Calibri" pitchFamily="34" charset="0"/>
                <a:ea typeface="Calibri" pitchFamily="34" charset="-122"/>
                <a:cs typeface="Calibri" pitchFamily="34" charset="-120"/>
              </a:rPr>
              <a:t>8</a:t>
            </a:r>
            <a:endParaRPr lang="en-US" sz="1800" dirty="0"/>
          </a:p>
        </p:txBody>
      </p:sp>
      <p:sp>
        <p:nvSpPr>
          <p:cNvPr id="33" name="Text 31"/>
          <p:cNvSpPr txBox="1"/>
          <p:nvPr/>
        </p:nvSpPr>
        <p:spPr>
          <a:xfrm>
            <a:off x="5120640" y="4361688"/>
            <a:ext cx="26060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Results &amp; Recommendations</a:t>
            </a:r>
            <a:endParaRPr lang="en-US" sz="1700" dirty="0"/>
          </a:p>
        </p:txBody>
      </p:sp>
      <p:sp>
        <p:nvSpPr>
          <p:cNvPr id="34" name="Text 32"/>
          <p:cNvSpPr txBox="1"/>
          <p:nvPr/>
        </p:nvSpPr>
        <p:spPr>
          <a:xfrm>
            <a:off x="5120640" y="4727448"/>
            <a:ext cx="2560320" cy="548640"/>
          </a:xfrm>
          <a:prstGeom prst="rect">
            <a:avLst/>
          </a:prstGeom>
          <a:noFill/>
          <a:ln/>
        </p:spPr>
        <p:txBody>
          <a:bodyPr wrap="square" lIns="0" tIns="0" rIns="0" bIns="0" rtlCol="0" anchor="t"/>
          <a:lstStyle/>
          <a:p>
            <a:pPr indent="0" marL="0">
              <a:buNone/>
            </a:pPr>
            <a:r>
              <a:rPr lang="en-US" sz="1400" dirty="0">
                <a:solidFill>
                  <a:srgbClr val="A9B8D6"/>
                </a:solidFill>
                <a:latin typeface="Calibri" pitchFamily="34" charset="0"/>
                <a:ea typeface="Calibri" pitchFamily="34" charset="-122"/>
                <a:cs typeface="Calibri" pitchFamily="34" charset="-120"/>
              </a:rPr>
              <a:t>Shows findings with suggested fixes</a:t>
            </a:r>
            <a:endParaRPr lang="en-US" sz="1400" dirty="0"/>
          </a:p>
        </p:txBody>
      </p:sp>
      <p:sp>
        <p:nvSpPr>
          <p:cNvPr id="35" name="Stage 9"/>
          <p:cNvSpPr/>
          <p:nvPr/>
        </p:nvSpPr>
        <p:spPr>
          <a:xfrm>
            <a:off x="8229600" y="4251960"/>
            <a:ext cx="3383280" cy="1097280"/>
          </a:xfrm>
          <a:prstGeom prst="roundRect">
            <a:avLst>
              <a:gd name="adj" fmla="val 10000"/>
            </a:avLst>
          </a:prstGeom>
          <a:solidFill>
            <a:srgbClr val="111B3A"/>
          </a:solidFill>
          <a:ln w="19050">
            <a:solidFill>
              <a:srgbClr val="22C55E"/>
            </a:solidFill>
            <a:prstDash val="solid"/>
          </a:ln>
        </p:spPr>
      </p:sp>
      <p:sp>
        <p:nvSpPr>
          <p:cNvPr id="36" name="Stage number"/>
          <p:cNvSpPr/>
          <p:nvPr/>
        </p:nvSpPr>
        <p:spPr>
          <a:xfrm>
            <a:off x="8366760" y="4572000"/>
            <a:ext cx="457200" cy="457200"/>
          </a:xfrm>
          <a:prstGeom prst="ellipse">
            <a:avLst/>
          </a:prstGeom>
          <a:solidFill>
            <a:srgbClr val="22C55E"/>
          </a:solidFill>
          <a:ln w="12700">
            <a:solidFill>
              <a:srgbClr val="22C55E"/>
            </a:solidFill>
          </a:ln>
        </p:spPr>
        <p:txBody>
          <a:bodyPr wrap="square" lIns="0" tIns="0" rIns="0" bIns="0" rtlCol="0" anchor="ctr"/>
          <a:lstStyle/>
          <a:p>
            <a:pPr algn="ctr" indent="0" marL="0">
              <a:buNone/>
            </a:pPr>
            <a:r>
              <a:rPr lang="en-US" sz="1800" b="1" dirty="0">
                <a:solidFill>
                  <a:srgbClr val="0A1128"/>
                </a:solidFill>
                <a:latin typeface="Calibri" pitchFamily="34" charset="0"/>
                <a:ea typeface="Calibri" pitchFamily="34" charset="-122"/>
                <a:cs typeface="Calibri" pitchFamily="34" charset="-120"/>
              </a:rPr>
              <a:t>9</a:t>
            </a:r>
            <a:endParaRPr lang="en-US" sz="1800" dirty="0"/>
          </a:p>
        </p:txBody>
      </p:sp>
      <p:sp>
        <p:nvSpPr>
          <p:cNvPr id="37" name="Text 35"/>
          <p:cNvSpPr txBox="1"/>
          <p:nvPr/>
        </p:nvSpPr>
        <p:spPr>
          <a:xfrm>
            <a:off x="8961120" y="4361688"/>
            <a:ext cx="26060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Report Generation</a:t>
            </a:r>
            <a:endParaRPr lang="en-US" sz="1700" dirty="0"/>
          </a:p>
        </p:txBody>
      </p:sp>
      <p:sp>
        <p:nvSpPr>
          <p:cNvPr id="38" name="Text 36"/>
          <p:cNvSpPr txBox="1"/>
          <p:nvPr/>
        </p:nvSpPr>
        <p:spPr>
          <a:xfrm>
            <a:off x="8961120" y="4727448"/>
            <a:ext cx="2560320" cy="548640"/>
          </a:xfrm>
          <a:prstGeom prst="rect">
            <a:avLst/>
          </a:prstGeom>
          <a:noFill/>
          <a:ln/>
        </p:spPr>
        <p:txBody>
          <a:bodyPr wrap="square" lIns="0" tIns="0" rIns="0" bIns="0" rtlCol="0" anchor="t"/>
          <a:lstStyle/>
          <a:p>
            <a:pPr indent="0" marL="0">
              <a:buNone/>
            </a:pPr>
            <a:r>
              <a:rPr lang="en-US" sz="1400" dirty="0">
                <a:solidFill>
                  <a:srgbClr val="A9B8D6"/>
                </a:solidFill>
                <a:latin typeface="Calibri" pitchFamily="34" charset="0"/>
                <a:ea typeface="Calibri" pitchFamily="34" charset="-122"/>
                <a:cs typeface="Calibri" pitchFamily="34" charset="-120"/>
              </a:rPr>
              <a:t>Creates a Text / HTML report</a:t>
            </a:r>
            <a:endParaRPr lang="en-US" sz="1400" dirty="0"/>
          </a:p>
        </p:txBody>
      </p:sp>
      <p:sp>
        <p:nvSpPr>
          <p:cNvPr id="39" name="Flow arrow"/>
          <p:cNvSpPr/>
          <p:nvPr/>
        </p:nvSpPr>
        <p:spPr>
          <a:xfrm>
            <a:off x="3995928" y="1737360"/>
            <a:ext cx="329184" cy="274320"/>
          </a:xfrm>
          <a:prstGeom prst="rightArrow">
            <a:avLst/>
          </a:prstGeom>
          <a:solidFill>
            <a:srgbClr val="00B4FF"/>
          </a:solidFill>
          <a:ln w="6350">
            <a:solidFill>
              <a:srgbClr val="00B4FF"/>
            </a:solidFill>
            <a:prstDash val="solid"/>
          </a:ln>
        </p:spPr>
      </p:sp>
      <p:sp>
        <p:nvSpPr>
          <p:cNvPr id="40" name="Flow arrow"/>
          <p:cNvSpPr/>
          <p:nvPr/>
        </p:nvSpPr>
        <p:spPr>
          <a:xfrm>
            <a:off x="7836408" y="1737360"/>
            <a:ext cx="329184" cy="274320"/>
          </a:xfrm>
          <a:prstGeom prst="rightArrow">
            <a:avLst/>
          </a:prstGeom>
          <a:solidFill>
            <a:srgbClr val="00B4FF"/>
          </a:solidFill>
          <a:ln w="6350">
            <a:solidFill>
              <a:srgbClr val="00B4FF"/>
            </a:solidFill>
            <a:prstDash val="solid"/>
          </a:ln>
        </p:spPr>
      </p:sp>
      <p:sp>
        <p:nvSpPr>
          <p:cNvPr id="41" name="Flow arrow"/>
          <p:cNvSpPr/>
          <p:nvPr/>
        </p:nvSpPr>
        <p:spPr>
          <a:xfrm>
            <a:off x="7836408" y="3200400"/>
            <a:ext cx="329184" cy="274320"/>
          </a:xfrm>
          <a:prstGeom prst="leftArrow">
            <a:avLst/>
          </a:prstGeom>
          <a:solidFill>
            <a:srgbClr val="00B4FF"/>
          </a:solidFill>
          <a:ln w="6350">
            <a:solidFill>
              <a:srgbClr val="00B4FF"/>
            </a:solidFill>
            <a:prstDash val="solid"/>
          </a:ln>
        </p:spPr>
      </p:sp>
      <p:sp>
        <p:nvSpPr>
          <p:cNvPr id="42" name="Flow arrow"/>
          <p:cNvSpPr/>
          <p:nvPr/>
        </p:nvSpPr>
        <p:spPr>
          <a:xfrm>
            <a:off x="3995928" y="3200400"/>
            <a:ext cx="329184" cy="274320"/>
          </a:xfrm>
          <a:prstGeom prst="leftArrow">
            <a:avLst/>
          </a:prstGeom>
          <a:solidFill>
            <a:srgbClr val="00B4FF"/>
          </a:solidFill>
          <a:ln w="6350">
            <a:solidFill>
              <a:srgbClr val="00B4FF"/>
            </a:solidFill>
            <a:prstDash val="solid"/>
          </a:ln>
        </p:spPr>
      </p:sp>
      <p:sp>
        <p:nvSpPr>
          <p:cNvPr id="43" name="Flow arrow"/>
          <p:cNvSpPr/>
          <p:nvPr/>
        </p:nvSpPr>
        <p:spPr>
          <a:xfrm>
            <a:off x="3995928" y="4663440"/>
            <a:ext cx="329184" cy="274320"/>
          </a:xfrm>
          <a:prstGeom prst="rightArrow">
            <a:avLst/>
          </a:prstGeom>
          <a:solidFill>
            <a:srgbClr val="00B4FF"/>
          </a:solidFill>
          <a:ln w="6350">
            <a:solidFill>
              <a:srgbClr val="00B4FF"/>
            </a:solidFill>
            <a:prstDash val="solid"/>
          </a:ln>
        </p:spPr>
      </p:sp>
      <p:sp>
        <p:nvSpPr>
          <p:cNvPr id="44" name="Flow arrow"/>
          <p:cNvSpPr/>
          <p:nvPr/>
        </p:nvSpPr>
        <p:spPr>
          <a:xfrm>
            <a:off x="7836408" y="4663440"/>
            <a:ext cx="329184" cy="274320"/>
          </a:xfrm>
          <a:prstGeom prst="rightArrow">
            <a:avLst/>
          </a:prstGeom>
          <a:solidFill>
            <a:srgbClr val="00B4FF"/>
          </a:solidFill>
          <a:ln w="6350">
            <a:solidFill>
              <a:srgbClr val="00B4FF"/>
            </a:solidFill>
            <a:prstDash val="solid"/>
          </a:ln>
        </p:spPr>
      </p:sp>
      <p:sp>
        <p:nvSpPr>
          <p:cNvPr id="45" name="Flow arrow"/>
          <p:cNvSpPr/>
          <p:nvPr/>
        </p:nvSpPr>
        <p:spPr>
          <a:xfrm>
            <a:off x="9765792" y="2468880"/>
            <a:ext cx="310896" cy="274320"/>
          </a:xfrm>
          <a:prstGeom prst="downArrow">
            <a:avLst/>
          </a:prstGeom>
          <a:solidFill>
            <a:srgbClr val="00B4FF"/>
          </a:solidFill>
          <a:ln w="6350">
            <a:solidFill>
              <a:srgbClr val="00B4FF"/>
            </a:solidFill>
            <a:prstDash val="solid"/>
          </a:ln>
        </p:spPr>
      </p:sp>
      <p:sp>
        <p:nvSpPr>
          <p:cNvPr id="46" name="Flow arrow"/>
          <p:cNvSpPr/>
          <p:nvPr/>
        </p:nvSpPr>
        <p:spPr>
          <a:xfrm>
            <a:off x="2084832" y="3931920"/>
            <a:ext cx="310896" cy="274320"/>
          </a:xfrm>
          <a:prstGeom prst="downArrow">
            <a:avLst/>
          </a:prstGeom>
          <a:solidFill>
            <a:srgbClr val="00B4FF"/>
          </a:solidFill>
          <a:ln w="6350">
            <a:solidFill>
              <a:srgbClr val="00B4FF"/>
            </a:solidFill>
            <a:prstDash val="solid"/>
          </a:ln>
        </p:spPr>
      </p:sp>
      <p:sp>
        <p:nvSpPr>
          <p:cNvPr id="47" name="Technology label"/>
          <p:cNvSpPr/>
          <p:nvPr/>
        </p:nvSpPr>
        <p:spPr>
          <a:xfrm>
            <a:off x="548640" y="5669280"/>
            <a:ext cx="2103120" cy="457200"/>
          </a:xfrm>
          <a:prstGeom prst="roundRect">
            <a:avLst>
              <a:gd name="adj" fmla="val 20000"/>
            </a:avLst>
          </a:prstGeom>
          <a:solidFill>
            <a:srgbClr val="0E3A6E"/>
          </a:solidFill>
          <a:ln w="12700">
            <a:solidFill>
              <a:srgbClr val="00B4F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 Programming Language</a:t>
            </a:r>
            <a:endParaRPr lang="en-US" sz="1400" dirty="0"/>
          </a:p>
        </p:txBody>
      </p:sp>
      <p:sp>
        <p:nvSpPr>
          <p:cNvPr id="48" name="Technology label"/>
          <p:cNvSpPr/>
          <p:nvPr/>
        </p:nvSpPr>
        <p:spPr>
          <a:xfrm>
            <a:off x="2788920" y="5669280"/>
            <a:ext cx="2103120" cy="457200"/>
          </a:xfrm>
          <a:prstGeom prst="roundRect">
            <a:avLst>
              <a:gd name="adj" fmla="val 20000"/>
            </a:avLst>
          </a:prstGeom>
          <a:solidFill>
            <a:srgbClr val="0E3A6E"/>
          </a:solidFill>
          <a:ln w="12700">
            <a:solidFill>
              <a:srgbClr val="00B4F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Linux / Ubuntu</a:t>
            </a:r>
            <a:endParaRPr lang="en-US" sz="1400" dirty="0"/>
          </a:p>
        </p:txBody>
      </p:sp>
      <p:sp>
        <p:nvSpPr>
          <p:cNvPr id="49" name="Technology label"/>
          <p:cNvSpPr/>
          <p:nvPr/>
        </p:nvSpPr>
        <p:spPr>
          <a:xfrm>
            <a:off x="5029200" y="5669280"/>
            <a:ext cx="2103120" cy="457200"/>
          </a:xfrm>
          <a:prstGeom prst="roundRect">
            <a:avLst>
              <a:gd name="adj" fmla="val 20000"/>
            </a:avLst>
          </a:prstGeom>
          <a:solidFill>
            <a:srgbClr val="0E3A6E"/>
          </a:solidFill>
          <a:ln w="12700">
            <a:solidFill>
              <a:srgbClr val="00B4F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POSIX System Calls</a:t>
            </a:r>
            <a:endParaRPr lang="en-US" sz="1400" dirty="0"/>
          </a:p>
        </p:txBody>
      </p:sp>
      <p:sp>
        <p:nvSpPr>
          <p:cNvPr id="50" name="Technology label"/>
          <p:cNvSpPr/>
          <p:nvPr/>
        </p:nvSpPr>
        <p:spPr>
          <a:xfrm>
            <a:off x="7269480" y="5669280"/>
            <a:ext cx="2103120" cy="457200"/>
          </a:xfrm>
          <a:prstGeom prst="roundRect">
            <a:avLst>
              <a:gd name="adj" fmla="val 20000"/>
            </a:avLst>
          </a:prstGeom>
          <a:solidFill>
            <a:srgbClr val="0E3A6E"/>
          </a:solidFill>
          <a:ln w="12700">
            <a:solidFill>
              <a:srgbClr val="00B4F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GCC Compiler</a:t>
            </a:r>
            <a:endParaRPr lang="en-US" sz="1400" dirty="0"/>
          </a:p>
        </p:txBody>
      </p:sp>
      <p:sp>
        <p:nvSpPr>
          <p:cNvPr id="51" name="Technology label"/>
          <p:cNvSpPr/>
          <p:nvPr/>
        </p:nvSpPr>
        <p:spPr>
          <a:xfrm>
            <a:off x="9509760" y="5669280"/>
            <a:ext cx="2103120" cy="457200"/>
          </a:xfrm>
          <a:prstGeom prst="roundRect">
            <a:avLst>
              <a:gd name="adj" fmla="val 20000"/>
            </a:avLst>
          </a:prstGeom>
          <a:solidFill>
            <a:srgbClr val="0E3A6E"/>
          </a:solidFill>
          <a:ln w="12700">
            <a:solidFill>
              <a:srgbClr val="00B4F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Git and GitHub</a:t>
            </a:r>
            <a:endParaRPr lang="en-US" sz="14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9B8D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Technologies Behind the Project</a:t>
            </a:r>
            <a:endParaRPr lang="en-US" sz="3400" dirty="0"/>
          </a:p>
        </p:txBody>
      </p:sp>
      <p:sp>
        <p:nvSpPr>
          <p:cNvPr id="3" name="Technology card"/>
          <p:cNvSpPr/>
          <p:nvPr/>
        </p:nvSpPr>
        <p:spPr>
          <a:xfrm>
            <a:off x="548640" y="1371600"/>
            <a:ext cx="5120640" cy="713232"/>
          </a:xfrm>
          <a:prstGeom prst="roundRect">
            <a:avLst>
              <a:gd name="adj" fmla="val 15385"/>
            </a:avLst>
          </a:prstGeom>
          <a:solidFill>
            <a:srgbClr val="111B3A"/>
          </a:solidFill>
          <a:ln w="12700">
            <a:solidFill>
              <a:srgbClr val="1F3C7A"/>
            </a:solidFill>
            <a:prstDash val="solid"/>
          </a:ln>
        </p:spPr>
      </p:sp>
      <p:sp>
        <p:nvSpPr>
          <p:cNvPr id="4" name="Text 2"/>
          <p:cNvSpPr txBox="1"/>
          <p:nvPr/>
        </p:nvSpPr>
        <p:spPr>
          <a:xfrm>
            <a:off x="777240" y="1408176"/>
            <a:ext cx="475488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 Programming</a:t>
            </a:r>
            <a:endParaRPr lang="en-US" sz="1700" dirty="0"/>
          </a:p>
          <a:p>
            <a:pPr indent="0" marL="0">
              <a:buNone/>
            </a:pPr>
            <a:r>
              <a:rPr lang="en-US" sz="1400" dirty="0">
                <a:solidFill>
                  <a:srgbClr val="A9B8D6"/>
                </a:solidFill>
                <a:latin typeface="Calibri" pitchFamily="34" charset="0"/>
                <a:ea typeface="Calibri" pitchFamily="34" charset="-122"/>
                <a:cs typeface="Calibri" pitchFamily="34" charset="-120"/>
              </a:rPr>
              <a:t>Core permission analysis and scanning logic</a:t>
            </a:r>
            <a:endParaRPr lang="en-US" sz="1700" dirty="0"/>
          </a:p>
        </p:txBody>
      </p:sp>
      <p:sp>
        <p:nvSpPr>
          <p:cNvPr id="5" name="Technology card"/>
          <p:cNvSpPr/>
          <p:nvPr/>
        </p:nvSpPr>
        <p:spPr>
          <a:xfrm>
            <a:off x="548640" y="2176272"/>
            <a:ext cx="5120640" cy="713232"/>
          </a:xfrm>
          <a:prstGeom prst="roundRect">
            <a:avLst>
              <a:gd name="adj" fmla="val 15385"/>
            </a:avLst>
          </a:prstGeom>
          <a:solidFill>
            <a:srgbClr val="111B3A"/>
          </a:solidFill>
          <a:ln w="12700">
            <a:solidFill>
              <a:srgbClr val="1F3C7A"/>
            </a:solidFill>
            <a:prstDash val="solid"/>
          </a:ln>
        </p:spPr>
      </p:sp>
      <p:sp>
        <p:nvSpPr>
          <p:cNvPr id="6" name="Text 4"/>
          <p:cNvSpPr txBox="1"/>
          <p:nvPr/>
        </p:nvSpPr>
        <p:spPr>
          <a:xfrm>
            <a:off x="777240" y="2212848"/>
            <a:ext cx="475488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Linux / Ubuntu</a:t>
            </a:r>
            <a:endParaRPr lang="en-US" sz="1700" dirty="0"/>
          </a:p>
          <a:p>
            <a:pPr indent="0" marL="0">
              <a:buNone/>
            </a:pPr>
            <a:r>
              <a:rPr lang="en-US" sz="1400" dirty="0">
                <a:solidFill>
                  <a:srgbClr val="A9B8D6"/>
                </a:solidFill>
                <a:latin typeface="Calibri" pitchFamily="34" charset="0"/>
                <a:ea typeface="Calibri" pitchFamily="34" charset="-122"/>
                <a:cs typeface="Calibri" pitchFamily="34" charset="-120"/>
              </a:rPr>
              <a:t>Operating system environment for the tool</a:t>
            </a:r>
            <a:endParaRPr lang="en-US" sz="1700" dirty="0"/>
          </a:p>
        </p:txBody>
      </p:sp>
      <p:sp>
        <p:nvSpPr>
          <p:cNvPr id="7" name="Technology card"/>
          <p:cNvSpPr/>
          <p:nvPr/>
        </p:nvSpPr>
        <p:spPr>
          <a:xfrm>
            <a:off x="548640" y="2980944"/>
            <a:ext cx="5120640" cy="713232"/>
          </a:xfrm>
          <a:prstGeom prst="roundRect">
            <a:avLst>
              <a:gd name="adj" fmla="val 15385"/>
            </a:avLst>
          </a:prstGeom>
          <a:solidFill>
            <a:srgbClr val="111B3A"/>
          </a:solidFill>
          <a:ln w="12700">
            <a:solidFill>
              <a:srgbClr val="1F3C7A"/>
            </a:solidFill>
            <a:prstDash val="solid"/>
          </a:ln>
        </p:spPr>
      </p:sp>
      <p:sp>
        <p:nvSpPr>
          <p:cNvPr id="8" name="Text 6"/>
          <p:cNvSpPr txBox="1"/>
          <p:nvPr/>
        </p:nvSpPr>
        <p:spPr>
          <a:xfrm>
            <a:off x="777240" y="3017520"/>
            <a:ext cx="475488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stat() and lstat()</a:t>
            </a:r>
            <a:endParaRPr lang="en-US" sz="1700" dirty="0"/>
          </a:p>
          <a:p>
            <a:pPr indent="0" marL="0">
              <a:buNone/>
            </a:pPr>
            <a:r>
              <a:rPr lang="en-US" sz="1400" dirty="0">
                <a:solidFill>
                  <a:srgbClr val="A9B8D6"/>
                </a:solidFill>
                <a:latin typeface="Calibri" pitchFamily="34" charset="0"/>
                <a:ea typeface="Calibri" pitchFamily="34" charset="-122"/>
                <a:cs typeface="Calibri" pitchFamily="34" charset="-120"/>
              </a:rPr>
              <a:t>Read metadata; lstat() handles symbolic links</a:t>
            </a:r>
            <a:endParaRPr lang="en-US" sz="1700" dirty="0"/>
          </a:p>
        </p:txBody>
      </p:sp>
      <p:sp>
        <p:nvSpPr>
          <p:cNvPr id="9" name="Technology card"/>
          <p:cNvSpPr/>
          <p:nvPr/>
        </p:nvSpPr>
        <p:spPr>
          <a:xfrm>
            <a:off x="548640" y="3785616"/>
            <a:ext cx="5120640" cy="713232"/>
          </a:xfrm>
          <a:prstGeom prst="roundRect">
            <a:avLst>
              <a:gd name="adj" fmla="val 15385"/>
            </a:avLst>
          </a:prstGeom>
          <a:solidFill>
            <a:srgbClr val="111B3A"/>
          </a:solidFill>
          <a:ln w="12700">
            <a:solidFill>
              <a:srgbClr val="1F3C7A"/>
            </a:solidFill>
            <a:prstDash val="solid"/>
          </a:ln>
        </p:spPr>
      </p:sp>
      <p:sp>
        <p:nvSpPr>
          <p:cNvPr id="10" name="Text 8"/>
          <p:cNvSpPr txBox="1"/>
          <p:nvPr/>
        </p:nvSpPr>
        <p:spPr>
          <a:xfrm>
            <a:off x="777240" y="3822192"/>
            <a:ext cx="475488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opendir() and readdir()</a:t>
            </a:r>
            <a:endParaRPr lang="en-US" sz="1700" dirty="0"/>
          </a:p>
          <a:p>
            <a:pPr indent="0" marL="0">
              <a:buNone/>
            </a:pPr>
            <a:r>
              <a:rPr lang="en-US" sz="1400" dirty="0">
                <a:solidFill>
                  <a:srgbClr val="A9B8D6"/>
                </a:solidFill>
                <a:latin typeface="Calibri" pitchFamily="34" charset="0"/>
                <a:ea typeface="Calibri" pitchFamily="34" charset="-122"/>
                <a:cs typeface="Calibri" pitchFamily="34" charset="-120"/>
              </a:rPr>
              <a:t>Walk through directories to find files</a:t>
            </a:r>
            <a:endParaRPr lang="en-US" sz="1700" dirty="0"/>
          </a:p>
        </p:txBody>
      </p:sp>
      <p:sp>
        <p:nvSpPr>
          <p:cNvPr id="11" name="Technology card"/>
          <p:cNvSpPr/>
          <p:nvPr/>
        </p:nvSpPr>
        <p:spPr>
          <a:xfrm>
            <a:off x="548640" y="4590288"/>
            <a:ext cx="5120640" cy="713232"/>
          </a:xfrm>
          <a:prstGeom prst="roundRect">
            <a:avLst>
              <a:gd name="adj" fmla="val 15385"/>
            </a:avLst>
          </a:prstGeom>
          <a:solidFill>
            <a:srgbClr val="111B3A"/>
          </a:solidFill>
          <a:ln w="12700">
            <a:solidFill>
              <a:srgbClr val="1F3C7A"/>
            </a:solidFill>
            <a:prstDash val="solid"/>
          </a:ln>
        </p:spPr>
      </p:sp>
      <p:sp>
        <p:nvSpPr>
          <p:cNvPr id="12" name="Text 10"/>
          <p:cNvSpPr txBox="1"/>
          <p:nvPr/>
        </p:nvSpPr>
        <p:spPr>
          <a:xfrm>
            <a:off x="777240" y="4626864"/>
            <a:ext cx="475488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GCC</a:t>
            </a:r>
            <a:endParaRPr lang="en-US" sz="1700" dirty="0"/>
          </a:p>
          <a:p>
            <a:pPr indent="0" marL="0">
              <a:buNone/>
            </a:pPr>
            <a:r>
              <a:rPr lang="en-US" sz="1400" dirty="0">
                <a:solidFill>
                  <a:srgbClr val="A9B8D6"/>
                </a:solidFill>
                <a:latin typeface="Calibri" pitchFamily="34" charset="0"/>
                <a:ea typeface="Calibri" pitchFamily="34" charset="-122"/>
                <a:cs typeface="Calibri" pitchFamily="34" charset="-120"/>
              </a:rPr>
              <a:t>Compiles the C source code</a:t>
            </a:r>
            <a:endParaRPr lang="en-US" sz="1700" dirty="0"/>
          </a:p>
        </p:txBody>
      </p:sp>
      <p:sp>
        <p:nvSpPr>
          <p:cNvPr id="13" name="Technology card"/>
          <p:cNvSpPr/>
          <p:nvPr/>
        </p:nvSpPr>
        <p:spPr>
          <a:xfrm>
            <a:off x="548640" y="5394960"/>
            <a:ext cx="5120640" cy="713232"/>
          </a:xfrm>
          <a:prstGeom prst="roundRect">
            <a:avLst>
              <a:gd name="adj" fmla="val 15385"/>
            </a:avLst>
          </a:prstGeom>
          <a:solidFill>
            <a:srgbClr val="111B3A"/>
          </a:solidFill>
          <a:ln w="12700">
            <a:solidFill>
              <a:srgbClr val="1F3C7A"/>
            </a:solidFill>
            <a:prstDash val="solid"/>
          </a:ln>
        </p:spPr>
      </p:sp>
      <p:sp>
        <p:nvSpPr>
          <p:cNvPr id="14" name="Text 12"/>
          <p:cNvSpPr txBox="1"/>
          <p:nvPr/>
        </p:nvSpPr>
        <p:spPr>
          <a:xfrm>
            <a:off x="777240" y="5431536"/>
            <a:ext cx="475488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Git and GitHub</a:t>
            </a:r>
            <a:endParaRPr lang="en-US" sz="1700" dirty="0"/>
          </a:p>
          <a:p>
            <a:pPr indent="0" marL="0">
              <a:buNone/>
            </a:pPr>
            <a:r>
              <a:rPr lang="en-US" sz="1400" dirty="0">
                <a:solidFill>
                  <a:srgbClr val="A9B8D6"/>
                </a:solidFill>
                <a:latin typeface="Calibri" pitchFamily="34" charset="0"/>
                <a:ea typeface="Calibri" pitchFamily="34" charset="-122"/>
                <a:cs typeface="Calibri" pitchFamily="34" charset="-120"/>
              </a:rPr>
              <a:t>Version control and project sharing</a:t>
            </a:r>
            <a:endParaRPr lang="en-US" sz="1700" dirty="0"/>
          </a:p>
        </p:txBody>
      </p:sp>
      <p:sp>
        <p:nvSpPr>
          <p:cNvPr id="15" name="Breakdown panel"/>
          <p:cNvSpPr/>
          <p:nvPr/>
        </p:nvSpPr>
        <p:spPr>
          <a:xfrm>
            <a:off x="5943600" y="1371600"/>
            <a:ext cx="5696712" cy="4754880"/>
          </a:xfrm>
          <a:prstGeom prst="roundRect">
            <a:avLst>
              <a:gd name="adj" fmla="val 2308"/>
            </a:avLst>
          </a:prstGeom>
          <a:solidFill>
            <a:srgbClr val="111B3A"/>
          </a:solidFill>
          <a:ln w="12700">
            <a:solidFill>
              <a:srgbClr val="1F3C7A"/>
            </a:solidFill>
            <a:prstDash val="solid"/>
          </a:ln>
        </p:spPr>
      </p:sp>
      <p:sp>
        <p:nvSpPr>
          <p:cNvPr id="16" name="Text 14"/>
          <p:cNvSpPr txBox="1"/>
          <p:nvPr/>
        </p:nvSpPr>
        <p:spPr>
          <a:xfrm>
            <a:off x="6217920" y="1463040"/>
            <a:ext cx="5120640" cy="365760"/>
          </a:xfrm>
          <a:prstGeom prst="rect">
            <a:avLst/>
          </a:prstGeom>
          <a:noFill/>
          <a:ln/>
        </p:spPr>
        <p:txBody>
          <a:bodyPr wrap="square" lIns="0" tIns="0" rIns="0" bIns="0" rtlCol="0" anchor="ctr"/>
          <a:lstStyle/>
          <a:p>
            <a:pPr indent="0" marL="0">
              <a:buNone/>
            </a:pPr>
            <a:r>
              <a:rPr lang="en-US" sz="1800" b="1" dirty="0">
                <a:solidFill>
                  <a:srgbClr val="00B4FF"/>
                </a:solidFill>
                <a:latin typeface="Calibri" pitchFamily="34" charset="0"/>
                <a:ea typeface="Calibri" pitchFamily="34" charset="-122"/>
                <a:cs typeface="Calibri" pitchFamily="34" charset="-120"/>
              </a:rPr>
              <a:t>Sample permission:  -rwxr-xr-x</a:t>
            </a:r>
            <a:endParaRPr lang="en-US" sz="1800" dirty="0"/>
          </a:p>
        </p:txBody>
      </p:sp>
      <p:sp>
        <p:nvSpPr>
          <p:cNvPr id="17" name="Text 15"/>
          <p:cNvSpPr txBox="1"/>
          <p:nvPr/>
        </p:nvSpPr>
        <p:spPr>
          <a:xfrm>
            <a:off x="6291072" y="2011680"/>
            <a:ext cx="420624" cy="274320"/>
          </a:xfrm>
          <a:prstGeom prst="rect">
            <a:avLst/>
          </a:prstGeom>
          <a:noFill/>
          <a:ln/>
        </p:spPr>
        <p:txBody>
          <a:bodyPr wrap="square" lIns="0" tIns="0" rIns="0" bIns="0" rtlCol="0" anchor="ctr"/>
          <a:lstStyle/>
          <a:p>
            <a:pPr algn="ctr" indent="0" marL="0">
              <a:buNone/>
            </a:pPr>
            <a:r>
              <a:rPr lang="en-US" sz="1200" dirty="0">
                <a:solidFill>
                  <a:srgbClr val="A9B8D6"/>
                </a:solidFill>
                <a:latin typeface="Calibri" pitchFamily="34" charset="0"/>
                <a:ea typeface="Calibri" pitchFamily="34" charset="-122"/>
                <a:cs typeface="Calibri" pitchFamily="34" charset="-120"/>
              </a:rPr>
              <a:t>Type</a:t>
            </a:r>
            <a:endParaRPr lang="en-US" sz="1200" dirty="0"/>
          </a:p>
        </p:txBody>
      </p:sp>
      <p:sp>
        <p:nvSpPr>
          <p:cNvPr id="18" name="Type cell"/>
          <p:cNvSpPr/>
          <p:nvPr/>
        </p:nvSpPr>
        <p:spPr>
          <a:xfrm>
            <a:off x="6291072" y="2331720"/>
            <a:ext cx="420624" cy="548640"/>
          </a:xfrm>
          <a:prstGeom prst="rect">
            <a:avLst/>
          </a:prstGeom>
          <a:solidFill>
            <a:srgbClr val="1B2A55"/>
          </a:solidFill>
          <a:ln w="12700">
            <a:solidFill>
              <a:srgbClr val="0A1128"/>
            </a:solidFill>
          </a:ln>
        </p:spPr>
        <p:txBody>
          <a:bodyPr wrap="square" lIns="0" tIns="0" rIns="0" bIns="0" rtlCol="0" anchor="ctr"/>
          <a:lstStyle/>
          <a:p>
            <a:pPr algn="ctr" indent="0" marL="0">
              <a:buNone/>
            </a:pPr>
            <a:r>
              <a:rPr lang="en-US" sz="2200" b="1" dirty="0">
                <a:solidFill>
                  <a:srgbClr val="A9B8D6"/>
                </a:solidFill>
                <a:latin typeface="Courier New" pitchFamily="34" charset="0"/>
                <a:ea typeface="Courier New" pitchFamily="34" charset="-122"/>
                <a:cs typeface="Courier New" pitchFamily="34" charset="-120"/>
              </a:rPr>
              <a:t>-</a:t>
            </a:r>
            <a:endParaRPr lang="en-US" sz="2200" dirty="0"/>
          </a:p>
        </p:txBody>
      </p:sp>
      <p:sp>
        <p:nvSpPr>
          <p:cNvPr id="19" name="Text 17"/>
          <p:cNvSpPr txBox="1"/>
          <p:nvPr/>
        </p:nvSpPr>
        <p:spPr>
          <a:xfrm>
            <a:off x="6894576" y="2011680"/>
            <a:ext cx="1261872"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Owner</a:t>
            </a:r>
            <a:endParaRPr lang="en-US" sz="1400" dirty="0"/>
          </a:p>
        </p:txBody>
      </p:sp>
      <p:sp>
        <p:nvSpPr>
          <p:cNvPr id="20" name="Permission cell"/>
          <p:cNvSpPr/>
          <p:nvPr/>
        </p:nvSpPr>
        <p:spPr>
          <a:xfrm>
            <a:off x="6894576" y="2331720"/>
            <a:ext cx="420624" cy="548640"/>
          </a:xfrm>
          <a:prstGeom prst="rect">
            <a:avLst/>
          </a:prstGeom>
          <a:solidFill>
            <a:srgbClr val="22C55E"/>
          </a:solidFill>
          <a:ln w="12700">
            <a:solidFill>
              <a:srgbClr val="0A1128"/>
            </a:solidFill>
          </a:ln>
        </p:spPr>
        <p:txBody>
          <a:bodyPr wrap="square" lIns="0" tIns="0" rIns="0" bIns="0" rtlCol="0" anchor="ctr"/>
          <a:lstStyle/>
          <a:p>
            <a:pPr algn="ctr" indent="0" marL="0">
              <a:buNone/>
            </a:pPr>
            <a:r>
              <a:rPr lang="en-US" sz="2200" b="1" dirty="0">
                <a:solidFill>
                  <a:srgbClr val="0A1128"/>
                </a:solidFill>
                <a:latin typeface="Courier New" pitchFamily="34" charset="0"/>
                <a:ea typeface="Courier New" pitchFamily="34" charset="-122"/>
                <a:cs typeface="Courier New" pitchFamily="34" charset="-120"/>
              </a:rPr>
              <a:t>r</a:t>
            </a:r>
            <a:endParaRPr lang="en-US" sz="2200" dirty="0"/>
          </a:p>
        </p:txBody>
      </p:sp>
      <p:sp>
        <p:nvSpPr>
          <p:cNvPr id="21" name="Permission cell"/>
          <p:cNvSpPr/>
          <p:nvPr/>
        </p:nvSpPr>
        <p:spPr>
          <a:xfrm>
            <a:off x="7315200" y="2331720"/>
            <a:ext cx="420624" cy="548640"/>
          </a:xfrm>
          <a:prstGeom prst="rect">
            <a:avLst/>
          </a:prstGeom>
          <a:solidFill>
            <a:srgbClr val="22C55E"/>
          </a:solidFill>
          <a:ln w="12700">
            <a:solidFill>
              <a:srgbClr val="0A1128"/>
            </a:solidFill>
          </a:ln>
        </p:spPr>
        <p:txBody>
          <a:bodyPr wrap="square" lIns="0" tIns="0" rIns="0" bIns="0" rtlCol="0" anchor="ctr"/>
          <a:lstStyle/>
          <a:p>
            <a:pPr algn="ctr" indent="0" marL="0">
              <a:buNone/>
            </a:pPr>
            <a:r>
              <a:rPr lang="en-US" sz="2200" b="1" dirty="0">
                <a:solidFill>
                  <a:srgbClr val="0A1128"/>
                </a:solidFill>
                <a:latin typeface="Courier New" pitchFamily="34" charset="0"/>
                <a:ea typeface="Courier New" pitchFamily="34" charset="-122"/>
                <a:cs typeface="Courier New" pitchFamily="34" charset="-120"/>
              </a:rPr>
              <a:t>w</a:t>
            </a:r>
            <a:endParaRPr lang="en-US" sz="2200" dirty="0"/>
          </a:p>
        </p:txBody>
      </p:sp>
      <p:sp>
        <p:nvSpPr>
          <p:cNvPr id="22" name="Permission cell"/>
          <p:cNvSpPr/>
          <p:nvPr/>
        </p:nvSpPr>
        <p:spPr>
          <a:xfrm>
            <a:off x="7735824" y="2331720"/>
            <a:ext cx="420624" cy="548640"/>
          </a:xfrm>
          <a:prstGeom prst="rect">
            <a:avLst/>
          </a:prstGeom>
          <a:solidFill>
            <a:srgbClr val="22C55E"/>
          </a:solidFill>
          <a:ln w="12700">
            <a:solidFill>
              <a:srgbClr val="0A1128"/>
            </a:solidFill>
          </a:ln>
        </p:spPr>
        <p:txBody>
          <a:bodyPr wrap="square" lIns="0" tIns="0" rIns="0" bIns="0" rtlCol="0" anchor="ctr"/>
          <a:lstStyle/>
          <a:p>
            <a:pPr algn="ctr" indent="0" marL="0">
              <a:buNone/>
            </a:pPr>
            <a:r>
              <a:rPr lang="en-US" sz="2200" b="1" dirty="0">
                <a:solidFill>
                  <a:srgbClr val="0A1128"/>
                </a:solidFill>
                <a:latin typeface="Courier New" pitchFamily="34" charset="0"/>
                <a:ea typeface="Courier New" pitchFamily="34" charset="-122"/>
                <a:cs typeface="Courier New" pitchFamily="34" charset="-120"/>
              </a:rPr>
              <a:t>x</a:t>
            </a:r>
            <a:endParaRPr lang="en-US" sz="2200" dirty="0"/>
          </a:p>
        </p:txBody>
      </p:sp>
      <p:sp>
        <p:nvSpPr>
          <p:cNvPr id="23" name="Text 21"/>
          <p:cNvSpPr txBox="1"/>
          <p:nvPr/>
        </p:nvSpPr>
        <p:spPr>
          <a:xfrm>
            <a:off x="6894576" y="2971800"/>
            <a:ext cx="1261872" cy="457200"/>
          </a:xfrm>
          <a:prstGeom prst="rect">
            <a:avLst/>
          </a:prstGeom>
          <a:noFill/>
          <a:ln/>
        </p:spPr>
        <p:txBody>
          <a:bodyPr wrap="square" lIns="0" tIns="0" rIns="0" bIns="0" rtlCol="0" anchor="ctr"/>
          <a:lstStyle/>
          <a:p>
            <a:pPr algn="ctr" indent="0" marL="0">
              <a:buNone/>
            </a:pPr>
            <a:r>
              <a:rPr lang="en-US" sz="3000" b="1" dirty="0">
                <a:solidFill>
                  <a:srgbClr val="22C55E"/>
                </a:solidFill>
                <a:latin typeface="Courier New" pitchFamily="34" charset="0"/>
                <a:ea typeface="Courier New" pitchFamily="34" charset="-122"/>
                <a:cs typeface="Courier New" pitchFamily="34" charset="-120"/>
              </a:rPr>
              <a:t>7</a:t>
            </a:r>
            <a:endParaRPr lang="en-US" sz="3000" dirty="0"/>
          </a:p>
        </p:txBody>
      </p:sp>
      <p:sp>
        <p:nvSpPr>
          <p:cNvPr id="24" name="Text 22"/>
          <p:cNvSpPr txBox="1"/>
          <p:nvPr/>
        </p:nvSpPr>
        <p:spPr>
          <a:xfrm>
            <a:off x="6894576" y="3429000"/>
            <a:ext cx="1261872" cy="274320"/>
          </a:xfrm>
          <a:prstGeom prst="rect">
            <a:avLst/>
          </a:prstGeom>
          <a:noFill/>
          <a:ln/>
        </p:spPr>
        <p:txBody>
          <a:bodyPr wrap="square" lIns="0" tIns="0" rIns="0" bIns="0" rtlCol="0" anchor="ctr"/>
          <a:lstStyle/>
          <a:p>
            <a:pPr algn="ctr" indent="0" marL="0">
              <a:buNone/>
            </a:pPr>
            <a:r>
              <a:rPr lang="en-US" sz="1400" dirty="0">
                <a:solidFill>
                  <a:srgbClr val="A9B8D6"/>
                </a:solidFill>
                <a:latin typeface="Calibri" pitchFamily="34" charset="0"/>
                <a:ea typeface="Calibri" pitchFamily="34" charset="-122"/>
                <a:cs typeface="Calibri" pitchFamily="34" charset="-120"/>
              </a:rPr>
              <a:t>4+2+1</a:t>
            </a:r>
            <a:endParaRPr lang="en-US" sz="1400" dirty="0"/>
          </a:p>
        </p:txBody>
      </p:sp>
      <p:sp>
        <p:nvSpPr>
          <p:cNvPr id="25" name="Text 23"/>
          <p:cNvSpPr txBox="1"/>
          <p:nvPr/>
        </p:nvSpPr>
        <p:spPr>
          <a:xfrm>
            <a:off x="8339328" y="2011680"/>
            <a:ext cx="1261872"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Group</a:t>
            </a:r>
            <a:endParaRPr lang="en-US" sz="1400" dirty="0"/>
          </a:p>
        </p:txBody>
      </p:sp>
      <p:sp>
        <p:nvSpPr>
          <p:cNvPr id="26" name="Permission cell"/>
          <p:cNvSpPr/>
          <p:nvPr/>
        </p:nvSpPr>
        <p:spPr>
          <a:xfrm>
            <a:off x="8339328" y="2331720"/>
            <a:ext cx="420624" cy="548640"/>
          </a:xfrm>
          <a:prstGeom prst="rect">
            <a:avLst/>
          </a:prstGeom>
          <a:solidFill>
            <a:srgbClr val="00B4FF"/>
          </a:solidFill>
          <a:ln w="12700">
            <a:solidFill>
              <a:srgbClr val="0A1128"/>
            </a:solidFill>
          </a:ln>
        </p:spPr>
        <p:txBody>
          <a:bodyPr wrap="square" lIns="0" tIns="0" rIns="0" bIns="0" rtlCol="0" anchor="ctr"/>
          <a:lstStyle/>
          <a:p>
            <a:pPr algn="ctr" indent="0" marL="0">
              <a:buNone/>
            </a:pPr>
            <a:r>
              <a:rPr lang="en-US" sz="2200" b="1" dirty="0">
                <a:solidFill>
                  <a:srgbClr val="0A1128"/>
                </a:solidFill>
                <a:latin typeface="Courier New" pitchFamily="34" charset="0"/>
                <a:ea typeface="Courier New" pitchFamily="34" charset="-122"/>
                <a:cs typeface="Courier New" pitchFamily="34" charset="-120"/>
              </a:rPr>
              <a:t>r</a:t>
            </a:r>
            <a:endParaRPr lang="en-US" sz="2200" dirty="0"/>
          </a:p>
        </p:txBody>
      </p:sp>
      <p:sp>
        <p:nvSpPr>
          <p:cNvPr id="27" name="Permission cell"/>
          <p:cNvSpPr/>
          <p:nvPr/>
        </p:nvSpPr>
        <p:spPr>
          <a:xfrm>
            <a:off x="8759952" y="2331720"/>
            <a:ext cx="420624" cy="548640"/>
          </a:xfrm>
          <a:prstGeom prst="rect">
            <a:avLst/>
          </a:prstGeom>
          <a:solidFill>
            <a:srgbClr val="1B2A55"/>
          </a:solidFill>
          <a:ln w="12700">
            <a:solidFill>
              <a:srgbClr val="0A1128"/>
            </a:solidFill>
          </a:ln>
        </p:spPr>
        <p:txBody>
          <a:bodyPr wrap="square" lIns="0" tIns="0" rIns="0" bIns="0" rtlCol="0" anchor="ctr"/>
          <a:lstStyle/>
          <a:p>
            <a:pPr algn="ctr" indent="0" marL="0">
              <a:buNone/>
            </a:pPr>
            <a:r>
              <a:rPr lang="en-US" sz="2200" b="1" dirty="0">
                <a:solidFill>
                  <a:srgbClr val="7F90B8"/>
                </a:solidFill>
                <a:latin typeface="Courier New" pitchFamily="34" charset="0"/>
                <a:ea typeface="Courier New" pitchFamily="34" charset="-122"/>
                <a:cs typeface="Courier New" pitchFamily="34" charset="-120"/>
              </a:rPr>
              <a:t>-</a:t>
            </a:r>
            <a:endParaRPr lang="en-US" sz="2200" dirty="0"/>
          </a:p>
        </p:txBody>
      </p:sp>
      <p:sp>
        <p:nvSpPr>
          <p:cNvPr id="28" name="Permission cell"/>
          <p:cNvSpPr/>
          <p:nvPr/>
        </p:nvSpPr>
        <p:spPr>
          <a:xfrm>
            <a:off x="9180576" y="2331720"/>
            <a:ext cx="420624" cy="548640"/>
          </a:xfrm>
          <a:prstGeom prst="rect">
            <a:avLst/>
          </a:prstGeom>
          <a:solidFill>
            <a:srgbClr val="00B4FF"/>
          </a:solidFill>
          <a:ln w="12700">
            <a:solidFill>
              <a:srgbClr val="0A1128"/>
            </a:solidFill>
          </a:ln>
        </p:spPr>
        <p:txBody>
          <a:bodyPr wrap="square" lIns="0" tIns="0" rIns="0" bIns="0" rtlCol="0" anchor="ctr"/>
          <a:lstStyle/>
          <a:p>
            <a:pPr algn="ctr" indent="0" marL="0">
              <a:buNone/>
            </a:pPr>
            <a:r>
              <a:rPr lang="en-US" sz="2200" b="1" dirty="0">
                <a:solidFill>
                  <a:srgbClr val="0A1128"/>
                </a:solidFill>
                <a:latin typeface="Courier New" pitchFamily="34" charset="0"/>
                <a:ea typeface="Courier New" pitchFamily="34" charset="-122"/>
                <a:cs typeface="Courier New" pitchFamily="34" charset="-120"/>
              </a:rPr>
              <a:t>x</a:t>
            </a:r>
            <a:endParaRPr lang="en-US" sz="2200" dirty="0"/>
          </a:p>
        </p:txBody>
      </p:sp>
      <p:sp>
        <p:nvSpPr>
          <p:cNvPr id="29" name="Text 27"/>
          <p:cNvSpPr txBox="1"/>
          <p:nvPr/>
        </p:nvSpPr>
        <p:spPr>
          <a:xfrm>
            <a:off x="8339328" y="2971800"/>
            <a:ext cx="1261872" cy="457200"/>
          </a:xfrm>
          <a:prstGeom prst="rect">
            <a:avLst/>
          </a:prstGeom>
          <a:noFill/>
          <a:ln/>
        </p:spPr>
        <p:txBody>
          <a:bodyPr wrap="square" lIns="0" tIns="0" rIns="0" bIns="0" rtlCol="0" anchor="ctr"/>
          <a:lstStyle/>
          <a:p>
            <a:pPr algn="ctr" indent="0" marL="0">
              <a:buNone/>
            </a:pPr>
            <a:r>
              <a:rPr lang="en-US" sz="3000" b="1" dirty="0">
                <a:solidFill>
                  <a:srgbClr val="00B4FF"/>
                </a:solidFill>
                <a:latin typeface="Courier New" pitchFamily="34" charset="0"/>
                <a:ea typeface="Courier New" pitchFamily="34" charset="-122"/>
                <a:cs typeface="Courier New" pitchFamily="34" charset="-120"/>
              </a:rPr>
              <a:t>5</a:t>
            </a:r>
            <a:endParaRPr lang="en-US" sz="3000" dirty="0"/>
          </a:p>
        </p:txBody>
      </p:sp>
      <p:sp>
        <p:nvSpPr>
          <p:cNvPr id="30" name="Text 28"/>
          <p:cNvSpPr txBox="1"/>
          <p:nvPr/>
        </p:nvSpPr>
        <p:spPr>
          <a:xfrm>
            <a:off x="8339328" y="3429000"/>
            <a:ext cx="1261872" cy="274320"/>
          </a:xfrm>
          <a:prstGeom prst="rect">
            <a:avLst/>
          </a:prstGeom>
          <a:noFill/>
          <a:ln/>
        </p:spPr>
        <p:txBody>
          <a:bodyPr wrap="square" lIns="0" tIns="0" rIns="0" bIns="0" rtlCol="0" anchor="ctr"/>
          <a:lstStyle/>
          <a:p>
            <a:pPr algn="ctr" indent="0" marL="0">
              <a:buNone/>
            </a:pPr>
            <a:r>
              <a:rPr lang="en-US" sz="1400" dirty="0">
                <a:solidFill>
                  <a:srgbClr val="A9B8D6"/>
                </a:solidFill>
                <a:latin typeface="Calibri" pitchFamily="34" charset="0"/>
                <a:ea typeface="Calibri" pitchFamily="34" charset="-122"/>
                <a:cs typeface="Calibri" pitchFamily="34" charset="-120"/>
              </a:rPr>
              <a:t>4+0+1</a:t>
            </a:r>
            <a:endParaRPr lang="en-US" sz="1400" dirty="0"/>
          </a:p>
        </p:txBody>
      </p:sp>
      <p:sp>
        <p:nvSpPr>
          <p:cNvPr id="31" name="Text 29"/>
          <p:cNvSpPr txBox="1"/>
          <p:nvPr/>
        </p:nvSpPr>
        <p:spPr>
          <a:xfrm>
            <a:off x="9784080" y="2011680"/>
            <a:ext cx="1261872"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Others</a:t>
            </a:r>
            <a:endParaRPr lang="en-US" sz="1400" dirty="0"/>
          </a:p>
        </p:txBody>
      </p:sp>
      <p:sp>
        <p:nvSpPr>
          <p:cNvPr id="32" name="Permission cell"/>
          <p:cNvSpPr/>
          <p:nvPr/>
        </p:nvSpPr>
        <p:spPr>
          <a:xfrm>
            <a:off x="9784080" y="2331720"/>
            <a:ext cx="420624" cy="548640"/>
          </a:xfrm>
          <a:prstGeom prst="rect">
            <a:avLst/>
          </a:prstGeom>
          <a:solidFill>
            <a:srgbClr val="00B4FF"/>
          </a:solidFill>
          <a:ln w="12700">
            <a:solidFill>
              <a:srgbClr val="0A1128"/>
            </a:solidFill>
          </a:ln>
        </p:spPr>
        <p:txBody>
          <a:bodyPr wrap="square" lIns="0" tIns="0" rIns="0" bIns="0" rtlCol="0" anchor="ctr"/>
          <a:lstStyle/>
          <a:p>
            <a:pPr algn="ctr" indent="0" marL="0">
              <a:buNone/>
            </a:pPr>
            <a:r>
              <a:rPr lang="en-US" sz="2200" b="1" dirty="0">
                <a:solidFill>
                  <a:srgbClr val="0A1128"/>
                </a:solidFill>
                <a:latin typeface="Courier New" pitchFamily="34" charset="0"/>
                <a:ea typeface="Courier New" pitchFamily="34" charset="-122"/>
                <a:cs typeface="Courier New" pitchFamily="34" charset="-120"/>
              </a:rPr>
              <a:t>r</a:t>
            </a:r>
            <a:endParaRPr lang="en-US" sz="2200" dirty="0"/>
          </a:p>
        </p:txBody>
      </p:sp>
      <p:sp>
        <p:nvSpPr>
          <p:cNvPr id="33" name="Permission cell"/>
          <p:cNvSpPr/>
          <p:nvPr/>
        </p:nvSpPr>
        <p:spPr>
          <a:xfrm>
            <a:off x="10204704" y="2331720"/>
            <a:ext cx="420624" cy="548640"/>
          </a:xfrm>
          <a:prstGeom prst="rect">
            <a:avLst/>
          </a:prstGeom>
          <a:solidFill>
            <a:srgbClr val="1B2A55"/>
          </a:solidFill>
          <a:ln w="12700">
            <a:solidFill>
              <a:srgbClr val="0A1128"/>
            </a:solidFill>
          </a:ln>
        </p:spPr>
        <p:txBody>
          <a:bodyPr wrap="square" lIns="0" tIns="0" rIns="0" bIns="0" rtlCol="0" anchor="ctr"/>
          <a:lstStyle/>
          <a:p>
            <a:pPr algn="ctr" indent="0" marL="0">
              <a:buNone/>
            </a:pPr>
            <a:r>
              <a:rPr lang="en-US" sz="2200" b="1" dirty="0">
                <a:solidFill>
                  <a:srgbClr val="7F90B8"/>
                </a:solidFill>
                <a:latin typeface="Courier New" pitchFamily="34" charset="0"/>
                <a:ea typeface="Courier New" pitchFamily="34" charset="-122"/>
                <a:cs typeface="Courier New" pitchFamily="34" charset="-120"/>
              </a:rPr>
              <a:t>-</a:t>
            </a:r>
            <a:endParaRPr lang="en-US" sz="2200" dirty="0"/>
          </a:p>
        </p:txBody>
      </p:sp>
      <p:sp>
        <p:nvSpPr>
          <p:cNvPr id="34" name="Permission cell"/>
          <p:cNvSpPr/>
          <p:nvPr/>
        </p:nvSpPr>
        <p:spPr>
          <a:xfrm>
            <a:off x="10625328" y="2331720"/>
            <a:ext cx="420624" cy="548640"/>
          </a:xfrm>
          <a:prstGeom prst="rect">
            <a:avLst/>
          </a:prstGeom>
          <a:solidFill>
            <a:srgbClr val="00B4FF"/>
          </a:solidFill>
          <a:ln w="12700">
            <a:solidFill>
              <a:srgbClr val="0A1128"/>
            </a:solidFill>
          </a:ln>
        </p:spPr>
        <p:txBody>
          <a:bodyPr wrap="square" lIns="0" tIns="0" rIns="0" bIns="0" rtlCol="0" anchor="ctr"/>
          <a:lstStyle/>
          <a:p>
            <a:pPr algn="ctr" indent="0" marL="0">
              <a:buNone/>
            </a:pPr>
            <a:r>
              <a:rPr lang="en-US" sz="2200" b="1" dirty="0">
                <a:solidFill>
                  <a:srgbClr val="0A1128"/>
                </a:solidFill>
                <a:latin typeface="Courier New" pitchFamily="34" charset="0"/>
                <a:ea typeface="Courier New" pitchFamily="34" charset="-122"/>
                <a:cs typeface="Courier New" pitchFamily="34" charset="-120"/>
              </a:rPr>
              <a:t>x</a:t>
            </a:r>
            <a:endParaRPr lang="en-US" sz="2200" dirty="0"/>
          </a:p>
        </p:txBody>
      </p:sp>
      <p:sp>
        <p:nvSpPr>
          <p:cNvPr id="35" name="Text 33"/>
          <p:cNvSpPr txBox="1"/>
          <p:nvPr/>
        </p:nvSpPr>
        <p:spPr>
          <a:xfrm>
            <a:off x="9784080" y="2971800"/>
            <a:ext cx="1261872" cy="457200"/>
          </a:xfrm>
          <a:prstGeom prst="rect">
            <a:avLst/>
          </a:prstGeom>
          <a:noFill/>
          <a:ln/>
        </p:spPr>
        <p:txBody>
          <a:bodyPr wrap="square" lIns="0" tIns="0" rIns="0" bIns="0" rtlCol="0" anchor="ctr"/>
          <a:lstStyle/>
          <a:p>
            <a:pPr algn="ctr" indent="0" marL="0">
              <a:buNone/>
            </a:pPr>
            <a:r>
              <a:rPr lang="en-US" sz="3000" b="1" dirty="0">
                <a:solidFill>
                  <a:srgbClr val="00B4FF"/>
                </a:solidFill>
                <a:latin typeface="Courier New" pitchFamily="34" charset="0"/>
                <a:ea typeface="Courier New" pitchFamily="34" charset="-122"/>
                <a:cs typeface="Courier New" pitchFamily="34" charset="-120"/>
              </a:rPr>
              <a:t>5</a:t>
            </a:r>
            <a:endParaRPr lang="en-US" sz="3000" dirty="0"/>
          </a:p>
        </p:txBody>
      </p:sp>
      <p:sp>
        <p:nvSpPr>
          <p:cNvPr id="36" name="Text 34"/>
          <p:cNvSpPr txBox="1"/>
          <p:nvPr/>
        </p:nvSpPr>
        <p:spPr>
          <a:xfrm>
            <a:off x="9784080" y="3429000"/>
            <a:ext cx="1261872" cy="274320"/>
          </a:xfrm>
          <a:prstGeom prst="rect">
            <a:avLst/>
          </a:prstGeom>
          <a:noFill/>
          <a:ln/>
        </p:spPr>
        <p:txBody>
          <a:bodyPr wrap="square" lIns="0" tIns="0" rIns="0" bIns="0" rtlCol="0" anchor="ctr"/>
          <a:lstStyle/>
          <a:p>
            <a:pPr algn="ctr" indent="0" marL="0">
              <a:buNone/>
            </a:pPr>
            <a:r>
              <a:rPr lang="en-US" sz="1400" dirty="0">
                <a:solidFill>
                  <a:srgbClr val="A9B8D6"/>
                </a:solidFill>
                <a:latin typeface="Calibri" pitchFamily="34" charset="0"/>
                <a:ea typeface="Calibri" pitchFamily="34" charset="-122"/>
                <a:cs typeface="Calibri" pitchFamily="34" charset="-120"/>
              </a:rPr>
              <a:t>4+0+1</a:t>
            </a:r>
            <a:endParaRPr lang="en-US" sz="1400" dirty="0"/>
          </a:p>
        </p:txBody>
      </p:sp>
      <p:sp>
        <p:nvSpPr>
          <p:cNvPr id="37" name="Text 35"/>
          <p:cNvSpPr txBox="1"/>
          <p:nvPr/>
        </p:nvSpPr>
        <p:spPr>
          <a:xfrm>
            <a:off x="6217920" y="3840480"/>
            <a:ext cx="274320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Octal:  755</a:t>
            </a:r>
            <a:endParaRPr lang="en-US" sz="2000" dirty="0"/>
          </a:p>
        </p:txBody>
      </p:sp>
      <p:sp>
        <p:nvSpPr>
          <p:cNvPr id="38" name="Marker"/>
          <p:cNvSpPr/>
          <p:nvPr/>
        </p:nvSpPr>
        <p:spPr>
          <a:xfrm>
            <a:off x="6217920" y="4398264"/>
            <a:ext cx="164592" cy="164592"/>
          </a:xfrm>
          <a:prstGeom prst="ellipse">
            <a:avLst/>
          </a:prstGeom>
          <a:solidFill>
            <a:srgbClr val="22C55E"/>
          </a:solidFill>
          <a:ln w="6350">
            <a:solidFill>
              <a:srgbClr val="22C55E"/>
            </a:solidFill>
            <a:prstDash val="solid"/>
          </a:ln>
        </p:spPr>
      </p:sp>
      <p:sp>
        <p:nvSpPr>
          <p:cNvPr id="39" name="Text 37"/>
          <p:cNvSpPr txBox="1"/>
          <p:nvPr/>
        </p:nvSpPr>
        <p:spPr>
          <a:xfrm>
            <a:off x="6492240" y="4297680"/>
            <a:ext cx="48463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Owner:  </a:t>
            </a:r>
            <a:pPr indent="0" marL="0">
              <a:buNone/>
            </a:pPr>
            <a:r>
              <a:rPr lang="en-US" sz="1800" dirty="0">
                <a:solidFill>
                  <a:srgbClr val="FFFFFF"/>
                </a:solidFill>
                <a:latin typeface="Calibri" pitchFamily="34" charset="0"/>
                <a:ea typeface="Calibri" pitchFamily="34" charset="-122"/>
                <a:cs typeface="Calibri" pitchFamily="34" charset="-120"/>
              </a:rPr>
              <a:t>read, write, execute</a:t>
            </a:r>
            <a:endParaRPr lang="en-US" sz="1800" dirty="0"/>
          </a:p>
        </p:txBody>
      </p:sp>
      <p:sp>
        <p:nvSpPr>
          <p:cNvPr id="40" name="Marker"/>
          <p:cNvSpPr/>
          <p:nvPr/>
        </p:nvSpPr>
        <p:spPr>
          <a:xfrm>
            <a:off x="6217920" y="4809744"/>
            <a:ext cx="164592" cy="164592"/>
          </a:xfrm>
          <a:prstGeom prst="ellipse">
            <a:avLst/>
          </a:prstGeom>
          <a:solidFill>
            <a:srgbClr val="00B4FF"/>
          </a:solidFill>
          <a:ln w="6350">
            <a:solidFill>
              <a:srgbClr val="00B4FF"/>
            </a:solidFill>
            <a:prstDash val="solid"/>
          </a:ln>
        </p:spPr>
      </p:sp>
      <p:sp>
        <p:nvSpPr>
          <p:cNvPr id="41" name="Text 39"/>
          <p:cNvSpPr txBox="1"/>
          <p:nvPr/>
        </p:nvSpPr>
        <p:spPr>
          <a:xfrm>
            <a:off x="6492240" y="4709160"/>
            <a:ext cx="48463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Group:  </a:t>
            </a:r>
            <a:pPr indent="0" marL="0">
              <a:buNone/>
            </a:pPr>
            <a:r>
              <a:rPr lang="en-US" sz="1800" dirty="0">
                <a:solidFill>
                  <a:srgbClr val="FFFFFF"/>
                </a:solidFill>
                <a:latin typeface="Calibri" pitchFamily="34" charset="0"/>
                <a:ea typeface="Calibri" pitchFamily="34" charset="-122"/>
                <a:cs typeface="Calibri" pitchFamily="34" charset="-120"/>
              </a:rPr>
              <a:t>read, execute</a:t>
            </a:r>
            <a:endParaRPr lang="en-US" sz="1800" dirty="0"/>
          </a:p>
        </p:txBody>
      </p:sp>
      <p:sp>
        <p:nvSpPr>
          <p:cNvPr id="42" name="Marker"/>
          <p:cNvSpPr/>
          <p:nvPr/>
        </p:nvSpPr>
        <p:spPr>
          <a:xfrm>
            <a:off x="6217920" y="5221224"/>
            <a:ext cx="164592" cy="164592"/>
          </a:xfrm>
          <a:prstGeom prst="ellipse">
            <a:avLst/>
          </a:prstGeom>
          <a:solidFill>
            <a:srgbClr val="00B4FF"/>
          </a:solidFill>
          <a:ln w="6350">
            <a:solidFill>
              <a:srgbClr val="00B4FF"/>
            </a:solidFill>
            <a:prstDash val="solid"/>
          </a:ln>
        </p:spPr>
      </p:sp>
      <p:sp>
        <p:nvSpPr>
          <p:cNvPr id="43" name="Text 41"/>
          <p:cNvSpPr txBox="1"/>
          <p:nvPr/>
        </p:nvSpPr>
        <p:spPr>
          <a:xfrm>
            <a:off x="6492240" y="5120640"/>
            <a:ext cx="48463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Others:  </a:t>
            </a:r>
            <a:pPr indent="0" marL="0">
              <a:buNone/>
            </a:pPr>
            <a:r>
              <a:rPr lang="en-US" sz="1800" dirty="0">
                <a:solidFill>
                  <a:srgbClr val="FFFFFF"/>
                </a:solidFill>
                <a:latin typeface="Calibri" pitchFamily="34" charset="0"/>
                <a:ea typeface="Calibri" pitchFamily="34" charset="-122"/>
                <a:cs typeface="Calibri" pitchFamily="34" charset="-120"/>
              </a:rPr>
              <a:t>read, execute</a:t>
            </a:r>
            <a:endParaRPr lang="en-US" sz="1800" dirty="0"/>
          </a:p>
        </p:txBody>
      </p:sp>
      <p:sp>
        <p:nvSpPr>
          <p:cNvPr id="44" name="Text 42"/>
          <p:cNvSpPr txBox="1"/>
          <p:nvPr/>
        </p:nvSpPr>
        <p:spPr>
          <a:xfrm>
            <a:off x="6217920" y="5577840"/>
            <a:ext cx="5212080" cy="320040"/>
          </a:xfrm>
          <a:prstGeom prst="rect">
            <a:avLst/>
          </a:prstGeom>
          <a:noFill/>
          <a:ln/>
        </p:spPr>
        <p:txBody>
          <a:bodyPr wrap="square" lIns="0" tIns="0" rIns="0" bIns="0" rtlCol="0" anchor="ctr"/>
          <a:lstStyle/>
          <a:p>
            <a:pPr indent="0" marL="0">
              <a:buNone/>
            </a:pPr>
            <a:r>
              <a:rPr lang="en-US" sz="1400" dirty="0">
                <a:solidFill>
                  <a:srgbClr val="A9B8D6"/>
                </a:solidFill>
                <a:latin typeface="Calibri" pitchFamily="34" charset="0"/>
                <a:ea typeface="Calibri" pitchFamily="34" charset="-122"/>
                <a:cs typeface="Calibri" pitchFamily="34" charset="-120"/>
              </a:rPr>
              <a:t>r = 4     w = 2     x = 1     - = no permission</a:t>
            </a:r>
            <a:endParaRPr lang="en-US" sz="14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9B8D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Live Demonstration</a:t>
            </a:r>
            <a:endParaRPr lang="en-US" sz="3400" dirty="0"/>
          </a:p>
        </p:txBody>
      </p:sp>
      <p:sp>
        <p:nvSpPr>
          <p:cNvPr id="3" name="Step number"/>
          <p:cNvSpPr/>
          <p:nvPr/>
        </p:nvSpPr>
        <p:spPr>
          <a:xfrm>
            <a:off x="548640" y="1408176"/>
            <a:ext cx="420624" cy="420624"/>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600" b="1" dirty="0">
                <a:solidFill>
                  <a:srgbClr val="0A1128"/>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143000" y="1371600"/>
            <a:ext cx="3200400" cy="49377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Open the analyzer</a:t>
            </a:r>
            <a:endParaRPr lang="en-US" sz="1800" dirty="0"/>
          </a:p>
        </p:txBody>
      </p:sp>
      <p:sp>
        <p:nvSpPr>
          <p:cNvPr id="5" name="Step number"/>
          <p:cNvSpPr/>
          <p:nvPr/>
        </p:nvSpPr>
        <p:spPr>
          <a:xfrm>
            <a:off x="548640" y="2066544"/>
            <a:ext cx="420624" cy="420624"/>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600" b="1" dirty="0">
                <a:solidFill>
                  <a:srgbClr val="0A1128"/>
                </a:solidFill>
                <a:latin typeface="Calibri" pitchFamily="34" charset="0"/>
                <a:ea typeface="Calibri" pitchFamily="34" charset="-122"/>
                <a:cs typeface="Calibri" pitchFamily="34" charset="-120"/>
              </a:rPr>
              <a:t>2</a:t>
            </a:r>
            <a:endParaRPr lang="en-US" sz="1600" dirty="0"/>
          </a:p>
        </p:txBody>
      </p:sp>
      <p:sp>
        <p:nvSpPr>
          <p:cNvPr id="6" name="Text 4"/>
          <p:cNvSpPr txBox="1"/>
          <p:nvPr/>
        </p:nvSpPr>
        <p:spPr>
          <a:xfrm>
            <a:off x="1143000" y="2029968"/>
            <a:ext cx="3200400" cy="49377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Create sample files</a:t>
            </a:r>
            <a:endParaRPr lang="en-US" sz="1800" dirty="0"/>
          </a:p>
        </p:txBody>
      </p:sp>
      <p:sp>
        <p:nvSpPr>
          <p:cNvPr id="7" name="Step number"/>
          <p:cNvSpPr/>
          <p:nvPr/>
        </p:nvSpPr>
        <p:spPr>
          <a:xfrm>
            <a:off x="548640" y="2724912"/>
            <a:ext cx="420624" cy="420624"/>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600" b="1" dirty="0">
                <a:solidFill>
                  <a:srgbClr val="0A1128"/>
                </a:solidFill>
                <a:latin typeface="Calibri" pitchFamily="34" charset="0"/>
                <a:ea typeface="Calibri" pitchFamily="34" charset="-122"/>
                <a:cs typeface="Calibri" pitchFamily="34" charset="-120"/>
              </a:rPr>
              <a:t>3</a:t>
            </a:r>
            <a:endParaRPr lang="en-US" sz="1600" dirty="0"/>
          </a:p>
        </p:txBody>
      </p:sp>
      <p:sp>
        <p:nvSpPr>
          <p:cNvPr id="8" name="Text 6"/>
          <p:cNvSpPr txBox="1"/>
          <p:nvPr/>
        </p:nvSpPr>
        <p:spPr>
          <a:xfrm>
            <a:off x="1143000" y="2688336"/>
            <a:ext cx="3200400" cy="49377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Assign Linux permissions</a:t>
            </a:r>
            <a:endParaRPr lang="en-US" sz="1800" dirty="0"/>
          </a:p>
        </p:txBody>
      </p:sp>
      <p:sp>
        <p:nvSpPr>
          <p:cNvPr id="9" name="Step number"/>
          <p:cNvSpPr/>
          <p:nvPr/>
        </p:nvSpPr>
        <p:spPr>
          <a:xfrm>
            <a:off x="548640" y="3383280"/>
            <a:ext cx="420624" cy="420624"/>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600" b="1" dirty="0">
                <a:solidFill>
                  <a:srgbClr val="0A1128"/>
                </a:solidFill>
                <a:latin typeface="Calibri" pitchFamily="34" charset="0"/>
                <a:ea typeface="Calibri" pitchFamily="34" charset="-122"/>
                <a:cs typeface="Calibri" pitchFamily="34" charset="-120"/>
              </a:rPr>
              <a:t>4</a:t>
            </a:r>
            <a:endParaRPr lang="en-US" sz="1600" dirty="0"/>
          </a:p>
        </p:txBody>
      </p:sp>
      <p:sp>
        <p:nvSpPr>
          <p:cNvPr id="10" name="Text 8"/>
          <p:cNvSpPr txBox="1"/>
          <p:nvPr/>
        </p:nvSpPr>
        <p:spPr>
          <a:xfrm>
            <a:off x="1143000" y="3346704"/>
            <a:ext cx="3200400" cy="49377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Scan the test directory</a:t>
            </a:r>
            <a:endParaRPr lang="en-US" sz="1800" dirty="0"/>
          </a:p>
        </p:txBody>
      </p:sp>
      <p:sp>
        <p:nvSpPr>
          <p:cNvPr id="11" name="Step number"/>
          <p:cNvSpPr/>
          <p:nvPr/>
        </p:nvSpPr>
        <p:spPr>
          <a:xfrm>
            <a:off x="548640" y="4041648"/>
            <a:ext cx="420624" cy="420624"/>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600" b="1" dirty="0">
                <a:solidFill>
                  <a:srgbClr val="0A1128"/>
                </a:solidFill>
                <a:latin typeface="Calibri" pitchFamily="34" charset="0"/>
                <a:ea typeface="Calibri" pitchFamily="34" charset="-122"/>
                <a:cs typeface="Calibri" pitchFamily="34" charset="-120"/>
              </a:rPr>
              <a:t>5</a:t>
            </a:r>
            <a:endParaRPr lang="en-US" sz="1600" dirty="0"/>
          </a:p>
        </p:txBody>
      </p:sp>
      <p:sp>
        <p:nvSpPr>
          <p:cNvPr id="12" name="Text 10"/>
          <p:cNvSpPr txBox="1"/>
          <p:nvPr/>
        </p:nvSpPr>
        <p:spPr>
          <a:xfrm>
            <a:off x="1143000" y="4005072"/>
            <a:ext cx="3200400" cy="49377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Display permission details</a:t>
            </a:r>
            <a:endParaRPr lang="en-US" sz="1800" dirty="0"/>
          </a:p>
        </p:txBody>
      </p:sp>
      <p:sp>
        <p:nvSpPr>
          <p:cNvPr id="13" name="Step number"/>
          <p:cNvSpPr/>
          <p:nvPr/>
        </p:nvSpPr>
        <p:spPr>
          <a:xfrm>
            <a:off x="548640" y="4700016"/>
            <a:ext cx="420624" cy="420624"/>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600" b="1" dirty="0">
                <a:solidFill>
                  <a:srgbClr val="0A1128"/>
                </a:solidFill>
                <a:latin typeface="Calibri" pitchFamily="34" charset="0"/>
                <a:ea typeface="Calibri" pitchFamily="34" charset="-122"/>
                <a:cs typeface="Calibri" pitchFamily="34" charset="-120"/>
              </a:rPr>
              <a:t>6</a:t>
            </a:r>
            <a:endParaRPr lang="en-US" sz="1600" dirty="0"/>
          </a:p>
        </p:txBody>
      </p:sp>
      <p:sp>
        <p:nvSpPr>
          <p:cNvPr id="14" name="Text 12"/>
          <p:cNvSpPr txBox="1"/>
          <p:nvPr/>
        </p:nvSpPr>
        <p:spPr>
          <a:xfrm>
            <a:off x="1143000" y="4663440"/>
            <a:ext cx="3200400" cy="49377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Identify potentially risky settings</a:t>
            </a:r>
            <a:endParaRPr lang="en-US" sz="1800" dirty="0"/>
          </a:p>
        </p:txBody>
      </p:sp>
      <p:sp>
        <p:nvSpPr>
          <p:cNvPr id="15" name="Step number"/>
          <p:cNvSpPr/>
          <p:nvPr/>
        </p:nvSpPr>
        <p:spPr>
          <a:xfrm>
            <a:off x="548640" y="5358384"/>
            <a:ext cx="420624" cy="420624"/>
          </a:xfrm>
          <a:prstGeom prst="ellipse">
            <a:avLst/>
          </a:prstGeom>
          <a:solidFill>
            <a:srgbClr val="00B4FF"/>
          </a:solidFill>
          <a:ln w="12700">
            <a:solidFill>
              <a:srgbClr val="00B4FF"/>
            </a:solidFill>
          </a:ln>
        </p:spPr>
        <p:txBody>
          <a:bodyPr wrap="square" lIns="0" tIns="0" rIns="0" bIns="0" rtlCol="0" anchor="ctr"/>
          <a:lstStyle/>
          <a:p>
            <a:pPr algn="ctr" indent="0" marL="0">
              <a:buNone/>
            </a:pPr>
            <a:r>
              <a:rPr lang="en-US" sz="1600" b="1" dirty="0">
                <a:solidFill>
                  <a:srgbClr val="0A1128"/>
                </a:solidFill>
                <a:latin typeface="Calibri" pitchFamily="34" charset="0"/>
                <a:ea typeface="Calibri" pitchFamily="34" charset="-122"/>
                <a:cs typeface="Calibri" pitchFamily="34" charset="-120"/>
              </a:rPr>
              <a:t>7</a:t>
            </a:r>
            <a:endParaRPr lang="en-US" sz="1600" dirty="0"/>
          </a:p>
        </p:txBody>
      </p:sp>
      <p:sp>
        <p:nvSpPr>
          <p:cNvPr id="16" name="Text 14"/>
          <p:cNvSpPr txBox="1"/>
          <p:nvPr/>
        </p:nvSpPr>
        <p:spPr>
          <a:xfrm>
            <a:off x="1143000" y="5321808"/>
            <a:ext cx="3200400" cy="493776"/>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Generate a security report</a:t>
            </a:r>
            <a:endParaRPr lang="en-US" sz="1800" dirty="0"/>
          </a:p>
        </p:txBody>
      </p:sp>
      <p:sp>
        <p:nvSpPr>
          <p:cNvPr id="17" name="Terminal window"/>
          <p:cNvSpPr/>
          <p:nvPr/>
        </p:nvSpPr>
        <p:spPr>
          <a:xfrm>
            <a:off x="4572000" y="1325880"/>
            <a:ext cx="7068312" cy="2331720"/>
          </a:xfrm>
          <a:prstGeom prst="rect">
            <a:avLst/>
          </a:prstGeom>
          <a:solidFill>
            <a:srgbClr val="070D1E"/>
          </a:solidFill>
          <a:ln w="19050">
            <a:solidFill>
              <a:srgbClr val="00B4FF"/>
            </a:solidFill>
            <a:prstDash val="solid"/>
          </a:ln>
        </p:spPr>
      </p:sp>
      <p:sp>
        <p:nvSpPr>
          <p:cNvPr id="18" name="Terminal title bar"/>
          <p:cNvSpPr/>
          <p:nvPr/>
        </p:nvSpPr>
        <p:spPr>
          <a:xfrm>
            <a:off x="4572000" y="1325880"/>
            <a:ext cx="7068312" cy="347472"/>
          </a:xfrm>
          <a:prstGeom prst="rect">
            <a:avLst/>
          </a:prstGeom>
          <a:solidFill>
            <a:srgbClr val="1B2A55"/>
          </a:solidFill>
          <a:ln w="19050">
            <a:solidFill>
              <a:srgbClr val="00B4FF"/>
            </a:solidFill>
            <a:prstDash val="solid"/>
          </a:ln>
        </p:spPr>
      </p:sp>
      <p:sp>
        <p:nvSpPr>
          <p:cNvPr id="19" name="Window dot"/>
          <p:cNvSpPr/>
          <p:nvPr/>
        </p:nvSpPr>
        <p:spPr>
          <a:xfrm>
            <a:off x="4754880" y="1417320"/>
            <a:ext cx="164592" cy="164592"/>
          </a:xfrm>
          <a:prstGeom prst="ellipse">
            <a:avLst/>
          </a:prstGeom>
          <a:solidFill>
            <a:srgbClr val="EF4444"/>
          </a:solidFill>
          <a:ln w="6350">
            <a:solidFill>
              <a:srgbClr val="EF4444"/>
            </a:solidFill>
            <a:prstDash val="solid"/>
          </a:ln>
        </p:spPr>
      </p:sp>
      <p:sp>
        <p:nvSpPr>
          <p:cNvPr id="20" name="Window dot"/>
          <p:cNvSpPr/>
          <p:nvPr/>
        </p:nvSpPr>
        <p:spPr>
          <a:xfrm>
            <a:off x="4983480" y="1417320"/>
            <a:ext cx="164592" cy="164592"/>
          </a:xfrm>
          <a:prstGeom prst="ellipse">
            <a:avLst/>
          </a:prstGeom>
          <a:solidFill>
            <a:srgbClr val="F59E0B"/>
          </a:solidFill>
          <a:ln w="6350">
            <a:solidFill>
              <a:srgbClr val="F59E0B"/>
            </a:solidFill>
            <a:prstDash val="solid"/>
          </a:ln>
        </p:spPr>
      </p:sp>
      <p:sp>
        <p:nvSpPr>
          <p:cNvPr id="21" name="Window dot"/>
          <p:cNvSpPr/>
          <p:nvPr/>
        </p:nvSpPr>
        <p:spPr>
          <a:xfrm>
            <a:off x="5212080" y="1417320"/>
            <a:ext cx="164592" cy="164592"/>
          </a:xfrm>
          <a:prstGeom prst="ellipse">
            <a:avLst/>
          </a:prstGeom>
          <a:solidFill>
            <a:srgbClr val="22C55E"/>
          </a:solidFill>
          <a:ln w="6350">
            <a:solidFill>
              <a:srgbClr val="22C55E"/>
            </a:solidFill>
            <a:prstDash val="solid"/>
          </a:ln>
        </p:spPr>
      </p:sp>
      <p:sp>
        <p:nvSpPr>
          <p:cNvPr id="22" name="Text 20"/>
          <p:cNvSpPr txBox="1"/>
          <p:nvPr/>
        </p:nvSpPr>
        <p:spPr>
          <a:xfrm>
            <a:off x="5669280" y="1371600"/>
            <a:ext cx="5760720" cy="256032"/>
          </a:xfrm>
          <a:prstGeom prst="rect">
            <a:avLst/>
          </a:prstGeom>
          <a:noFill/>
          <a:ln/>
        </p:spPr>
        <p:txBody>
          <a:bodyPr wrap="square" lIns="0" tIns="0" rIns="0" bIns="0" rtlCol="0" anchor="ctr"/>
          <a:lstStyle/>
          <a:p>
            <a:pPr algn="r" indent="0" marL="0">
              <a:buNone/>
            </a:pPr>
            <a:r>
              <a:rPr lang="en-US" sz="1200" dirty="0">
                <a:solidFill>
                  <a:srgbClr val="A9B8D6"/>
                </a:solidFill>
                <a:latin typeface="Calibri" pitchFamily="34" charset="0"/>
                <a:ea typeface="Calibri" pitchFamily="34" charset="-122"/>
                <a:cs typeface="Calibri" pitchFamily="34" charset="-120"/>
              </a:rPr>
              <a:t>Terminal</a:t>
            </a:r>
            <a:endParaRPr lang="en-US" sz="1200" dirty="0"/>
          </a:p>
        </p:txBody>
      </p:sp>
      <p:sp>
        <p:nvSpPr>
          <p:cNvPr id="23" name="Text 21"/>
          <p:cNvSpPr txBox="1"/>
          <p:nvPr/>
        </p:nvSpPr>
        <p:spPr>
          <a:xfrm>
            <a:off x="4800600" y="1783080"/>
            <a:ext cx="6675120" cy="1783080"/>
          </a:xfrm>
          <a:prstGeom prst="rect">
            <a:avLst/>
          </a:prstGeom>
          <a:noFill/>
          <a:ln/>
        </p:spPr>
        <p:txBody>
          <a:bodyPr wrap="square" lIns="0" tIns="0" rIns="0" bIns="0" rtlCol="0" anchor="t"/>
          <a:lstStyle/>
          <a:p>
            <a:pPr indent="0" marL="0">
              <a:spcAft>
                <a:spcPts val="200"/>
              </a:spcAft>
              <a:buNone/>
            </a:pPr>
            <a:r>
              <a:rPr lang="en-US" sz="1500" dirty="0">
                <a:solidFill>
                  <a:srgbClr val="22C55E"/>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mkdir -p demo_files</a:t>
            </a:r>
            <a:endParaRPr lang="en-US" sz="1500" dirty="0"/>
          </a:p>
          <a:p>
            <a:pPr indent="0" marL="0">
              <a:spcAft>
                <a:spcPts val="200"/>
              </a:spcAft>
              <a:buNone/>
            </a:pPr>
            <a:r>
              <a:rPr lang="en-US" sz="1500" dirty="0">
                <a:solidFill>
                  <a:srgbClr val="22C55E"/>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touch demo_files/normal.txt</a:t>
            </a:r>
            <a:endParaRPr lang="en-US" sz="1500" dirty="0"/>
          </a:p>
          <a:p>
            <a:pPr indent="0" marL="0">
              <a:spcAft>
                <a:spcPts val="200"/>
              </a:spcAft>
              <a:buNone/>
            </a:pPr>
            <a:r>
              <a:rPr lang="en-US" sz="1500" dirty="0">
                <a:solidFill>
                  <a:srgbClr val="22C55E"/>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touch demo_files/private.txt</a:t>
            </a:r>
            <a:endParaRPr lang="en-US" sz="1500" dirty="0"/>
          </a:p>
          <a:p>
            <a:pPr indent="0" marL="0">
              <a:spcAft>
                <a:spcPts val="200"/>
              </a:spcAft>
              <a:buNone/>
            </a:pPr>
            <a:r>
              <a:rPr lang="en-US" sz="1500" dirty="0">
                <a:solidFill>
                  <a:srgbClr val="22C55E"/>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touch demo_files/risky.txt</a:t>
            </a:r>
            <a:endParaRPr lang="en-US" sz="1500" dirty="0"/>
          </a:p>
          <a:p>
            <a:pPr indent="0" marL="0">
              <a:spcAft>
                <a:spcPts val="200"/>
              </a:spcAft>
              <a:buNone/>
            </a:pPr>
            <a:r>
              <a:rPr lang="en-US" sz="1500" dirty="0">
                <a:solidFill>
                  <a:srgbClr val="22C55E"/>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chmod 644 demo_files/normal.txt</a:t>
            </a:r>
            <a:endParaRPr lang="en-US" sz="1500" dirty="0"/>
          </a:p>
          <a:p>
            <a:pPr indent="0" marL="0">
              <a:spcAft>
                <a:spcPts val="200"/>
              </a:spcAft>
              <a:buNone/>
            </a:pPr>
            <a:r>
              <a:rPr lang="en-US" sz="1500" dirty="0">
                <a:solidFill>
                  <a:srgbClr val="22C55E"/>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rgbClr val="FFFFFF"/>
                </a:solidFill>
                <a:latin typeface="Courier New" pitchFamily="34" charset="0"/>
                <a:ea typeface="Courier New" pitchFamily="34" charset="-122"/>
                <a:cs typeface="Courier New" pitchFamily="34" charset="-120"/>
              </a:rPr>
              <a:t>chmod 600 demo_files/private.txt</a:t>
            </a:r>
            <a:endParaRPr lang="en-US" sz="1500" dirty="0"/>
          </a:p>
          <a:p>
            <a:pPr indent="0" marL="0">
              <a:spcAft>
                <a:spcPts val="200"/>
              </a:spcAft>
              <a:buNone/>
            </a:pPr>
            <a:r>
              <a:rPr lang="en-US" sz="1500" dirty="0">
                <a:solidFill>
                  <a:srgbClr val="22C55E"/>
                </a:solidFill>
                <a:latin typeface="Courier New" pitchFamily="34" charset="0"/>
                <a:ea typeface="Courier New" pitchFamily="34" charset="-122"/>
                <a:cs typeface="Courier New" pitchFamily="34" charset="-120"/>
              </a:rPr>
              <a:t>$ </a:t>
            </a:r>
            <a:pPr indent="0" marL="0">
              <a:spcAft>
                <a:spcPts val="200"/>
              </a:spcAft>
              <a:buNone/>
            </a:pPr>
            <a:r>
              <a:rPr lang="en-US" sz="1500" dirty="0">
                <a:solidFill>
                  <a:srgbClr val="FF8A8A"/>
                </a:solidFill>
                <a:latin typeface="Courier New" pitchFamily="34" charset="0"/>
                <a:ea typeface="Courier New" pitchFamily="34" charset="-122"/>
                <a:cs typeface="Courier New" pitchFamily="34" charset="-120"/>
              </a:rPr>
              <a:t>chmod 777 demo_files/risky.txt</a:t>
            </a:r>
            <a:endParaRPr lang="en-US" sz="1500" dirty="0"/>
          </a:p>
        </p:txBody>
      </p:sp>
      <p:graphicFrame>
        <p:nvGraphicFramePr>
          <p:cNvPr id="7" name="Permission comparison table"/>
          <p:cNvGraphicFramePr>
            <a:graphicFrameLocks noGrp="1"/>
          </p:cNvGraphicFramePr>
          <p:nvPr>
            <p:extLst>
              <p:ext uri="{D42A27DB-BD31-4B8C-83A1-F6EECF244321}">
                <p14:modId xmlns:p14="http://schemas.microsoft.com/office/powerpoint/2010/main" val="1579011935"/>
              </p:ext>
            </p:extLst>
          </p:nvPr>
        </p:nvGraphicFramePr>
        <p:xfrm>
          <a:off x="4572000" y="3840480"/>
          <a:ext cx="7068312" cy="914400"/>
        </p:xfrm>
        <a:graphic>
          <a:graphicData uri="http://schemas.openxmlformats.org/drawingml/2006/table">
            <a:tbl>
              <a:tblPr/>
              <a:tblGrid>
                <a:gridCol w="822960"/>
                <a:gridCol w="1554480"/>
                <a:gridCol w="3017520"/>
                <a:gridCol w="1673352"/>
              </a:tblGrid>
              <a:tr h="384048">
                <a:tc>
                  <a:txBody>
                    <a:bodyPr/>
                    <a:lstStyle/>
                    <a:p>
                      <a:pPr algn="l" indent="0" marL="0">
                        <a:buNone/>
                      </a:pPr>
                      <a:r>
                        <a:rPr lang="en-US" sz="1500" b="1" dirty="0">
                          <a:solidFill>
                            <a:srgbClr val="0A1128"/>
                          </a:solidFill>
                          <a:latin typeface="Calibri" pitchFamily="34" charset="0"/>
                          <a:ea typeface="Calibri" pitchFamily="34" charset="-122"/>
                          <a:cs typeface="Calibri" pitchFamily="34" charset="-120"/>
                        </a:rPr>
                        <a:t>Mode</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00B4FF"/>
                    </a:solidFill>
                  </a:tcPr>
                </a:tc>
                <a:tc>
                  <a:txBody>
                    <a:bodyPr/>
                    <a:lstStyle/>
                    <a:p>
                      <a:pPr algn="l" indent="0" marL="0">
                        <a:buNone/>
                      </a:pPr>
                      <a:r>
                        <a:rPr lang="en-US" sz="1500" b="1" dirty="0">
                          <a:solidFill>
                            <a:srgbClr val="0A1128"/>
                          </a:solidFill>
                          <a:latin typeface="Calibri" pitchFamily="34" charset="0"/>
                          <a:ea typeface="Calibri" pitchFamily="34" charset="-122"/>
                          <a:cs typeface="Calibri" pitchFamily="34" charset="-120"/>
                        </a:rPr>
                        <a:t>Symbolic</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00B4FF"/>
                    </a:solidFill>
                  </a:tcPr>
                </a:tc>
                <a:tc>
                  <a:txBody>
                    <a:bodyPr/>
                    <a:lstStyle/>
                    <a:p>
                      <a:pPr algn="l" indent="0" marL="0">
                        <a:buNone/>
                      </a:pPr>
                      <a:r>
                        <a:rPr lang="en-US" sz="1500" b="1" dirty="0">
                          <a:solidFill>
                            <a:srgbClr val="0A1128"/>
                          </a:solidFill>
                          <a:latin typeface="Calibri" pitchFamily="34" charset="0"/>
                          <a:ea typeface="Calibri" pitchFamily="34" charset="-122"/>
                          <a:cs typeface="Calibri" pitchFamily="34" charset="-120"/>
                        </a:rPr>
                        <a:t>Who can do what</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00B4FF"/>
                    </a:solidFill>
                  </a:tcPr>
                </a:tc>
                <a:tc>
                  <a:txBody>
                    <a:bodyPr/>
                    <a:lstStyle/>
                    <a:p>
                      <a:pPr algn="l" indent="0" marL="0">
                        <a:buNone/>
                      </a:pPr>
                      <a:r>
                        <a:rPr lang="en-US" sz="1500" b="1" dirty="0">
                          <a:solidFill>
                            <a:srgbClr val="0A1128"/>
                          </a:solidFill>
                          <a:latin typeface="Calibri" pitchFamily="34" charset="0"/>
                          <a:ea typeface="Calibri" pitchFamily="34" charset="-122"/>
                          <a:cs typeface="Calibri" pitchFamily="34" charset="-120"/>
                        </a:rPr>
                        <a:t>Observation</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00B4FF"/>
                    </a:solidFill>
                  </a:tcPr>
                </a:tc>
              </a:tr>
              <a:tr h="47548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644</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algn="l" indent="0" marL="0">
                        <a:buNone/>
                      </a:pPr>
                      <a:r>
                        <a:rPr lang="en-US" sz="1500" dirty="0">
                          <a:solidFill>
                            <a:srgbClr val="FFFFFF"/>
                          </a:solidFill>
                          <a:latin typeface="Courier New" pitchFamily="34" charset="0"/>
                          <a:ea typeface="Courier New" pitchFamily="34" charset="-122"/>
                          <a:cs typeface="Courier New" pitchFamily="34" charset="-120"/>
                        </a:rPr>
                        <a:t>rw-r--r--</a:t>
                      </a:r>
                      <a:endParaRPr lang="en-US" sz="1500" dirty="0">
                        <a:latin typeface="Courier New" charset="0"/>
                        <a:ea typeface="Courier New" charset="0"/>
                        <a:cs typeface="Courier New"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algn="l" indent="0" marL="0">
                        <a:buNone/>
                      </a:pPr>
                      <a:r>
                        <a:rPr lang="en-US" sz="1500" dirty="0">
                          <a:solidFill>
                            <a:srgbClr val="FFFFFF"/>
                          </a:solidFill>
                          <a:latin typeface="Calibri" pitchFamily="34" charset="0"/>
                          <a:ea typeface="Calibri" pitchFamily="34" charset="-122"/>
                          <a:cs typeface="Calibri" pitchFamily="34" charset="-120"/>
                        </a:rPr>
                        <a:t>Owner: read, write. Group, others: read</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algn="l" indent="0" marL="0">
                        <a:buNone/>
                      </a:pPr>
                      <a:r>
                        <a:rPr lang="en-US" sz="1500" b="1" dirty="0">
                          <a:solidFill>
                            <a:srgbClr val="22C55E"/>
                          </a:solidFill>
                          <a:latin typeface="Calibri" pitchFamily="34" charset="0"/>
                          <a:ea typeface="Calibri" pitchFamily="34" charset="-122"/>
                          <a:cs typeface="Calibri" pitchFamily="34" charset="-120"/>
                        </a:rPr>
                        <a:t>Common setting</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r>
              <a:tr h="47548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600</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algn="l" indent="0" marL="0">
                        <a:buNone/>
                      </a:pPr>
                      <a:r>
                        <a:rPr lang="en-US" sz="1500" dirty="0">
                          <a:solidFill>
                            <a:srgbClr val="FFFFFF"/>
                          </a:solidFill>
                          <a:latin typeface="Courier New" pitchFamily="34" charset="0"/>
                          <a:ea typeface="Courier New" pitchFamily="34" charset="-122"/>
                          <a:cs typeface="Courier New" pitchFamily="34" charset="-120"/>
                        </a:rPr>
                        <a:t>rw-------</a:t>
                      </a:r>
                      <a:endParaRPr lang="en-US" sz="1500" dirty="0">
                        <a:latin typeface="Courier New" charset="0"/>
                        <a:ea typeface="Courier New" charset="0"/>
                        <a:cs typeface="Courier New"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algn="l" indent="0" marL="0">
                        <a:buNone/>
                      </a:pPr>
                      <a:r>
                        <a:rPr lang="en-US" sz="1500" dirty="0">
                          <a:solidFill>
                            <a:srgbClr val="FFFFFF"/>
                          </a:solidFill>
                          <a:latin typeface="Calibri" pitchFamily="34" charset="0"/>
                          <a:ea typeface="Calibri" pitchFamily="34" charset="-122"/>
                          <a:cs typeface="Calibri" pitchFamily="34" charset="-120"/>
                        </a:rPr>
                        <a:t>Owner only: read, write</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algn="l" indent="0" marL="0">
                        <a:buNone/>
                      </a:pPr>
                      <a:r>
                        <a:rPr lang="en-US" sz="1500" b="1" dirty="0">
                          <a:solidFill>
                            <a:srgbClr val="22C55E"/>
                          </a:solidFill>
                          <a:latin typeface="Calibri" pitchFamily="34" charset="0"/>
                          <a:ea typeface="Calibri" pitchFamily="34" charset="-122"/>
                          <a:cs typeface="Calibri" pitchFamily="34" charset="-120"/>
                        </a:rPr>
                        <a:t>Restrictive</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r>
              <a:tr h="47548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777</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algn="l" indent="0" marL="0">
                        <a:buNone/>
                      </a:pPr>
                      <a:r>
                        <a:rPr lang="en-US" sz="1500" dirty="0">
                          <a:solidFill>
                            <a:srgbClr val="FFFFFF"/>
                          </a:solidFill>
                          <a:latin typeface="Courier New" pitchFamily="34" charset="0"/>
                          <a:ea typeface="Courier New" pitchFamily="34" charset="-122"/>
                          <a:cs typeface="Courier New" pitchFamily="34" charset="-120"/>
                        </a:rPr>
                        <a:t>rwxrwxrwx</a:t>
                      </a:r>
                      <a:endParaRPr lang="en-US" sz="1500" dirty="0">
                        <a:latin typeface="Courier New" charset="0"/>
                        <a:ea typeface="Courier New" charset="0"/>
                        <a:cs typeface="Courier New"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algn="l" indent="0" marL="0">
                        <a:buNone/>
                      </a:pPr>
                      <a:r>
                        <a:rPr lang="en-US" sz="1500" dirty="0">
                          <a:solidFill>
                            <a:srgbClr val="FFFFFF"/>
                          </a:solidFill>
                          <a:latin typeface="Calibri" pitchFamily="34" charset="0"/>
                          <a:ea typeface="Calibri" pitchFamily="34" charset="-122"/>
                          <a:cs typeface="Calibri" pitchFamily="34" charset="-120"/>
                        </a:rPr>
                        <a:t>Everyone: read, write, execute</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algn="l" indent="0" marL="0">
                        <a:buNone/>
                      </a:pPr>
                      <a:r>
                        <a:rPr lang="en-US" sz="1500" b="1" dirty="0">
                          <a:solidFill>
                            <a:srgbClr val="FF8A8A"/>
                          </a:solidFill>
                          <a:latin typeface="Calibri" pitchFamily="34" charset="0"/>
                          <a:ea typeface="Calibri" pitchFamily="34" charset="-122"/>
                          <a:cs typeface="Calibri" pitchFamily="34" charset="-120"/>
                        </a:rPr>
                        <a:t>Potential risk</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r>
            </a:tbl>
          </a:graphicData>
        </a:graphic>
      </p:graphicFrame>
      <p:sp>
        <p:nvSpPr>
          <p:cNvPr id="25" name="Text 22"/>
          <p:cNvSpPr txBox="1"/>
          <p:nvPr/>
        </p:nvSpPr>
        <p:spPr>
          <a:xfrm>
            <a:off x="4572000" y="5852160"/>
            <a:ext cx="7068312" cy="365760"/>
          </a:xfrm>
          <a:prstGeom prst="rect">
            <a:avLst/>
          </a:prstGeom>
          <a:noFill/>
          <a:ln/>
        </p:spPr>
        <p:txBody>
          <a:bodyPr wrap="square" lIns="0" tIns="0" rIns="0" bIns="0" rtlCol="0" anchor="t"/>
          <a:lstStyle/>
          <a:p>
            <a:pPr indent="0" marL="0">
              <a:buNone/>
            </a:pPr>
            <a:r>
              <a:rPr lang="en-US" sz="1400" dirty="0">
                <a:solidFill>
                  <a:srgbClr val="F59E0B"/>
                </a:solidFill>
                <a:latin typeface="Calibri" pitchFamily="34" charset="0"/>
                <a:ea typeface="Calibri" pitchFamily="34" charset="-122"/>
                <a:cs typeface="Calibri" pitchFamily="34" charset="-120"/>
              </a:rPr>
              <a:t>These are examples only: appropriate permissions depend on the intended use of each file.</a:t>
            </a:r>
            <a:endParaRPr lang="en-US" sz="14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9B8D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Testing and Validation</a:t>
            </a:r>
            <a:endParaRPr lang="en-US" sz="3400" dirty="0"/>
          </a:p>
        </p:txBody>
      </p:sp>
      <p:graphicFrame>
        <p:nvGraphicFramePr>
          <p:cNvPr id="8" name="Test case table"/>
          <p:cNvGraphicFramePr>
            <a:graphicFrameLocks noGrp="1"/>
          </p:cNvGraphicFramePr>
          <p:nvPr>
            <p:extLst>
              <p:ext uri="{D42A27DB-BD31-4B8C-83A1-F6EECF244321}">
                <p14:modId xmlns:p14="http://schemas.microsoft.com/office/powerpoint/2010/main" val="1579011935"/>
              </p:ext>
            </p:extLst>
          </p:nvPr>
        </p:nvGraphicFramePr>
        <p:xfrm>
          <a:off x="548640" y="1325880"/>
          <a:ext cx="7498080" cy="914400"/>
        </p:xfrm>
        <a:graphic>
          <a:graphicData uri="http://schemas.openxmlformats.org/drawingml/2006/table">
            <a:tbl>
              <a:tblPr/>
              <a:tblGrid>
                <a:gridCol w="2194560"/>
                <a:gridCol w="1280160"/>
                <a:gridCol w="4023360"/>
              </a:tblGrid>
              <a:tr h="457200">
                <a:tc>
                  <a:txBody>
                    <a:bodyPr/>
                    <a:lstStyle/>
                    <a:p>
                      <a:pPr indent="0" marL="0">
                        <a:buNone/>
                      </a:pPr>
                      <a:r>
                        <a:rPr lang="en-US" sz="1500" b="1" dirty="0">
                          <a:solidFill>
                            <a:srgbClr val="0A1128"/>
                          </a:solidFill>
                          <a:latin typeface="Calibri" pitchFamily="34" charset="0"/>
                          <a:ea typeface="Calibri" pitchFamily="34" charset="-122"/>
                          <a:cs typeface="Calibri" pitchFamily="34" charset="-120"/>
                        </a:rPr>
                        <a:t>Test Case</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00B4FF"/>
                    </a:solidFill>
                  </a:tcPr>
                </a:tc>
                <a:tc>
                  <a:txBody>
                    <a:bodyPr/>
                    <a:lstStyle/>
                    <a:p>
                      <a:pPr indent="0" marL="0">
                        <a:buNone/>
                      </a:pPr>
                      <a:r>
                        <a:rPr lang="en-US" sz="1500" b="1" dirty="0">
                          <a:solidFill>
                            <a:srgbClr val="0A1128"/>
                          </a:solidFill>
                          <a:latin typeface="Calibri" pitchFamily="34" charset="0"/>
                          <a:ea typeface="Calibri" pitchFamily="34" charset="-122"/>
                          <a:cs typeface="Calibri" pitchFamily="34" charset="-120"/>
                        </a:rPr>
                        <a:t>Permission</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00B4FF"/>
                    </a:solidFill>
                  </a:tcPr>
                </a:tc>
                <a:tc>
                  <a:txBody>
                    <a:bodyPr/>
                    <a:lstStyle/>
                    <a:p>
                      <a:pPr indent="0" marL="0">
                        <a:buNone/>
                      </a:pPr>
                      <a:r>
                        <a:rPr lang="en-US" sz="1500" b="1" dirty="0">
                          <a:solidFill>
                            <a:srgbClr val="0A1128"/>
                          </a:solidFill>
                          <a:latin typeface="Calibri" pitchFamily="34" charset="0"/>
                          <a:ea typeface="Calibri" pitchFamily="34" charset="-122"/>
                          <a:cs typeface="Calibri" pitchFamily="34" charset="-120"/>
                        </a:rPr>
                        <a:t>Expected Observation</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00B4FF"/>
                    </a:solidFill>
                  </a:tcPr>
                </a:tc>
              </a:tr>
              <a:tr h="530352">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Normal text file</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indent="0" marL="0">
                        <a:buNone/>
                      </a:pPr>
                      <a:r>
                        <a:rPr lang="en-US" sz="1500" b="1" dirty="0">
                          <a:solidFill>
                            <a:srgbClr val="FFFFFF"/>
                          </a:solidFill>
                          <a:latin typeface="Courier New" pitchFamily="34" charset="0"/>
                          <a:ea typeface="Courier New" pitchFamily="34" charset="-122"/>
                          <a:cs typeface="Courier New" pitchFamily="34" charset="-120"/>
                        </a:rPr>
                        <a:t>644</a:t>
                      </a:r>
                      <a:endParaRPr lang="en-US" sz="1500" dirty="0">
                        <a:latin typeface="Courier New" charset="0"/>
                        <a:ea typeface="Courier New" charset="0"/>
                        <a:cs typeface="Courier New"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Owner write access; others read-only</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r>
              <a:tr h="530352">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Private file</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6264F"/>
                    </a:solidFill>
                  </a:tcPr>
                </a:tc>
                <a:tc>
                  <a:txBody>
                    <a:bodyPr/>
                    <a:lstStyle/>
                    <a:p>
                      <a:pPr indent="0" marL="0">
                        <a:buNone/>
                      </a:pPr>
                      <a:r>
                        <a:rPr lang="en-US" sz="1500" b="1" dirty="0">
                          <a:solidFill>
                            <a:srgbClr val="FFFFFF"/>
                          </a:solidFill>
                          <a:latin typeface="Courier New" pitchFamily="34" charset="0"/>
                          <a:ea typeface="Courier New" pitchFamily="34" charset="-122"/>
                          <a:cs typeface="Courier New" pitchFamily="34" charset="-120"/>
                        </a:rPr>
                        <a:t>600</a:t>
                      </a:r>
                      <a:endParaRPr lang="en-US" sz="1500" dirty="0">
                        <a:latin typeface="Courier New" charset="0"/>
                        <a:ea typeface="Courier New" charset="0"/>
                        <a:cs typeface="Courier New"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6264F"/>
                    </a:solidFill>
                  </a:tcPr>
                </a:tc>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Owner-only read/write access</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6264F"/>
                    </a:solidFill>
                  </a:tcPr>
                </a:tc>
              </a:tr>
              <a:tr h="658368">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Executable file</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indent="0" marL="0">
                        <a:buNone/>
                      </a:pPr>
                      <a:r>
                        <a:rPr lang="en-US" sz="1500" b="1" dirty="0">
                          <a:solidFill>
                            <a:srgbClr val="FFFFFF"/>
                          </a:solidFill>
                          <a:latin typeface="Courier New" pitchFamily="34" charset="0"/>
                          <a:ea typeface="Courier New" pitchFamily="34" charset="-122"/>
                          <a:cs typeface="Courier New" pitchFamily="34" charset="-120"/>
                        </a:rPr>
                        <a:t>755</a:t>
                      </a:r>
                      <a:endParaRPr lang="en-US" sz="1500" dirty="0">
                        <a:latin typeface="Courier New" charset="0"/>
                        <a:ea typeface="Courier New" charset="0"/>
                        <a:cs typeface="Courier New"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Owner can modify and execute; group and others can read and execute</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r>
              <a:tr h="658368">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Broad permissions</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6264F"/>
                    </a:solidFill>
                  </a:tcPr>
                </a:tc>
                <a:tc>
                  <a:txBody>
                    <a:bodyPr/>
                    <a:lstStyle/>
                    <a:p>
                      <a:pPr indent="0" marL="0">
                        <a:buNone/>
                      </a:pPr>
                      <a:r>
                        <a:rPr lang="en-US" sz="1500" b="1" dirty="0">
                          <a:solidFill>
                            <a:srgbClr val="FF8A8A"/>
                          </a:solidFill>
                          <a:latin typeface="Courier New" pitchFamily="34" charset="0"/>
                          <a:ea typeface="Courier New" pitchFamily="34" charset="-122"/>
                          <a:cs typeface="Courier New" pitchFamily="34" charset="-120"/>
                        </a:rPr>
                        <a:t>777</a:t>
                      </a:r>
                      <a:endParaRPr lang="en-US" sz="1500" dirty="0">
                        <a:latin typeface="Courier New" charset="0"/>
                        <a:ea typeface="Courier New" charset="0"/>
                        <a:cs typeface="Courier New"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6264F"/>
                    </a:solidFill>
                  </a:tcPr>
                </a:tc>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Potentially risky write access for all permission classes</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6264F"/>
                    </a:solidFill>
                  </a:tcPr>
                </a:tc>
              </a:tr>
              <a:tr h="530352">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Restricted directory</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indent="0" marL="0">
                        <a:buNone/>
                      </a:pPr>
                      <a:r>
                        <a:rPr lang="en-US" sz="1500" b="1" dirty="0">
                          <a:solidFill>
                            <a:srgbClr val="FFFFFF"/>
                          </a:solidFill>
                          <a:latin typeface="Courier New" pitchFamily="34" charset="0"/>
                          <a:ea typeface="Courier New" pitchFamily="34" charset="-122"/>
                          <a:cs typeface="Courier New" pitchFamily="34" charset="-120"/>
                        </a:rPr>
                        <a:t>700</a:t>
                      </a:r>
                      <a:endParaRPr lang="en-US" sz="1500" dirty="0">
                        <a:latin typeface="Courier New" charset="0"/>
                        <a:ea typeface="Courier New" charset="0"/>
                        <a:cs typeface="Courier New"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Owner-only directory access</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r>
              <a:tr h="530352">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Missing path</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6264F"/>
                    </a:solidFill>
                  </a:tcPr>
                </a:tc>
                <a:tc>
                  <a:txBody>
                    <a:bodyPr/>
                    <a:lstStyle/>
                    <a:p>
                      <a:pPr indent="0" marL="0">
                        <a:buNone/>
                      </a:pPr>
                      <a:r>
                        <a:rPr lang="en-US" sz="1500" b="1" dirty="0">
                          <a:solidFill>
                            <a:srgbClr val="FFFFFF"/>
                          </a:solidFill>
                          <a:latin typeface="Courier New" pitchFamily="34" charset="0"/>
                          <a:ea typeface="Courier New" pitchFamily="34" charset="-122"/>
                          <a:cs typeface="Courier New" pitchFamily="34" charset="-120"/>
                        </a:rPr>
                        <a:t>N/A</a:t>
                      </a:r>
                      <a:endParaRPr lang="en-US" sz="1500" dirty="0">
                        <a:latin typeface="Courier New" charset="0"/>
                        <a:ea typeface="Courier New" charset="0"/>
                        <a:cs typeface="Courier New"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6264F"/>
                    </a:solidFill>
                  </a:tcPr>
                </a:tc>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Error handled gracefully</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6264F"/>
                    </a:solidFill>
                  </a:tcPr>
                </a:tc>
              </a:tr>
              <a:tr h="658368">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Symbolic link</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indent="0" marL="0">
                        <a:buNone/>
                      </a:pPr>
                      <a:r>
                        <a:rPr lang="en-US" sz="1500" b="1" dirty="0">
                          <a:solidFill>
                            <a:srgbClr val="FFFFFF"/>
                          </a:solidFill>
                          <a:latin typeface="Courier New" pitchFamily="34" charset="0"/>
                          <a:ea typeface="Courier New" pitchFamily="34" charset="-122"/>
                          <a:cs typeface="Courier New" pitchFamily="34" charset="-120"/>
                        </a:rPr>
                        <a:t>N/A</a:t>
                      </a:r>
                      <a:endParaRPr lang="en-US" sz="1500" dirty="0">
                        <a:latin typeface="Courier New" charset="0"/>
                        <a:ea typeface="Courier New" charset="0"/>
                        <a:cs typeface="Courier New"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c>
                  <a:txBody>
                    <a:bodyPr/>
                    <a:lstStyle/>
                    <a:p>
                      <a:pPr indent="0" marL="0">
                        <a:buNone/>
                      </a:pPr>
                      <a:r>
                        <a:rPr lang="en-US" sz="1500" dirty="0">
                          <a:solidFill>
                            <a:srgbClr val="FFFFFF"/>
                          </a:solidFill>
                          <a:latin typeface="Calibri" pitchFamily="34" charset="0"/>
                          <a:ea typeface="Calibri" pitchFamily="34" charset="-122"/>
                          <a:cs typeface="Calibri" pitchFamily="34" charset="-120"/>
                        </a:rPr>
                        <a:t>Link handled without unsafe recursive traversal</a:t>
                      </a:r>
                      <a:endParaRPr lang="en-US" sz="1500" dirty="0">
                        <a:latin typeface="Calibri" charset="0"/>
                        <a:ea typeface="Calibri" charset="0"/>
                        <a:cs typeface="Calibri" charset="0"/>
                      </a:endParaRPr>
                    </a:p>
                  </a:txBody>
                  <a:tcPr marL="101600" marR="101600" marT="38100" marB="38100" anchor="ctr">
                    <a:lnL w="12700" cap="flat" cmpd="sng" algn="ctr">
                      <a:solidFill>
                        <a:srgbClr val="1F3C7A"/>
                      </a:solidFill>
                      <a:prstDash val="solid"/>
                      <a:round/>
                      <a:headEnd type="none" w="med" len="med"/>
                      <a:tailEnd type="none" w="med" len="med"/>
                    </a:lnL>
                    <a:lnR w="12700" cap="flat" cmpd="sng" algn="ctr">
                      <a:solidFill>
                        <a:srgbClr val="1F3C7A"/>
                      </a:solidFill>
                      <a:prstDash val="solid"/>
                      <a:round/>
                      <a:headEnd type="none" w="med" len="med"/>
                      <a:tailEnd type="none" w="med" len="med"/>
                    </a:lnR>
                    <a:lnT w="12700" cap="flat" cmpd="sng" algn="ctr">
                      <a:solidFill>
                        <a:srgbClr val="1F3C7A"/>
                      </a:solidFill>
                      <a:prstDash val="solid"/>
                      <a:round/>
                      <a:headEnd type="none" w="med" len="med"/>
                      <a:tailEnd type="none" w="med" len="med"/>
                    </a:lnT>
                    <a:lnB w="12700" cap="flat" cmpd="sng" algn="ctr">
                      <a:solidFill>
                        <a:srgbClr val="1F3C7A"/>
                      </a:solidFill>
                      <a:prstDash val="solid"/>
                      <a:round/>
                      <a:headEnd type="none" w="med" len="med"/>
                      <a:tailEnd type="none" w="med" len="med"/>
                    </a:lnB>
                    <a:solidFill>
                      <a:srgbClr val="111B3A"/>
                    </a:solidFill>
                  </a:tcPr>
                </a:tc>
              </a:tr>
            </a:tbl>
          </a:graphicData>
        </a:graphic>
      </p:graphicFrame>
      <p:sp>
        <p:nvSpPr>
          <p:cNvPr id="4" name="Approach panel"/>
          <p:cNvSpPr/>
          <p:nvPr/>
        </p:nvSpPr>
        <p:spPr>
          <a:xfrm>
            <a:off x="8321040" y="1325880"/>
            <a:ext cx="3319272" cy="4526280"/>
          </a:xfrm>
          <a:prstGeom prst="roundRect">
            <a:avLst>
              <a:gd name="adj" fmla="val 3306"/>
            </a:avLst>
          </a:prstGeom>
          <a:solidFill>
            <a:srgbClr val="111B3A"/>
          </a:solidFill>
          <a:ln w="12700">
            <a:solidFill>
              <a:srgbClr val="1F3C7A"/>
            </a:solidFill>
            <a:prstDash val="solid"/>
          </a:ln>
        </p:spPr>
      </p:sp>
      <p:sp>
        <p:nvSpPr>
          <p:cNvPr id="5" name="Chip"/>
          <p:cNvSpPr/>
          <p:nvPr/>
        </p:nvSpPr>
        <p:spPr>
          <a:xfrm>
            <a:off x="8503920" y="1481328"/>
            <a:ext cx="2953512" cy="384048"/>
          </a:xfrm>
          <a:prstGeom prst="roundRect">
            <a:avLst>
              <a:gd name="adj" fmla="val 23810"/>
            </a:avLst>
          </a:prstGeom>
          <a:solidFill>
            <a:srgbClr val="3A2A0A"/>
          </a:solidFill>
          <a:ln w="12700">
            <a:solidFill>
              <a:srgbClr val="F59E0B"/>
            </a:solid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EXPECTED OBSERVATIONS</a:t>
            </a:r>
            <a:endParaRPr lang="en-US" sz="1300" dirty="0"/>
          </a:p>
        </p:txBody>
      </p:sp>
      <p:sp>
        <p:nvSpPr>
          <p:cNvPr id="6" name="Text 3"/>
          <p:cNvSpPr txBox="1"/>
          <p:nvPr/>
        </p:nvSpPr>
        <p:spPr>
          <a:xfrm>
            <a:off x="8503920" y="2057400"/>
            <a:ext cx="2971800" cy="36576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Different permission settings are tested</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File metadata is collected from Linux</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Risks are checked with predefined rules</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Errors are handled where possible</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Reports summarize the findings</a:t>
            </a:r>
            <a:endParaRPr lang="en-US" sz="1800" dirty="0"/>
          </a:p>
        </p:txBody>
      </p:sp>
      <p:sp>
        <p:nvSpPr>
          <p:cNvPr id="7" name="Text 4"/>
          <p:cNvSpPr txBox="1"/>
          <p:nvPr/>
        </p:nvSpPr>
        <p:spPr>
          <a:xfrm>
            <a:off x="548640" y="5943600"/>
            <a:ext cx="7498080" cy="365760"/>
          </a:xfrm>
          <a:prstGeom prst="rect">
            <a:avLst/>
          </a:prstGeom>
          <a:noFill/>
          <a:ln/>
        </p:spPr>
        <p:txBody>
          <a:bodyPr wrap="square" lIns="0" tIns="0" rIns="0" bIns="0" rtlCol="0" anchor="t"/>
          <a:lstStyle/>
          <a:p>
            <a:pPr indent="0" marL="0">
              <a:buNone/>
            </a:pPr>
            <a:r>
              <a:rPr lang="en-US" sz="1300" dirty="0">
                <a:solidFill>
                  <a:srgbClr val="A9B8D6"/>
                </a:solidFill>
                <a:latin typeface="Calibri" pitchFamily="34" charset="0"/>
                <a:ea typeface="Calibri" pitchFamily="34" charset="-122"/>
                <a:cs typeface="Calibri" pitchFamily="34" charset="-120"/>
              </a:rPr>
              <a:t>Planned test cases with expected behaviour. No measured results or success rates are claimed.</a:t>
            </a:r>
            <a:endParaRPr lang="en-US" sz="13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9B8D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Security Benefits and Practical Impact</a:t>
            </a:r>
            <a:endParaRPr lang="en-US" sz="3400" dirty="0"/>
          </a:p>
        </p:txBody>
      </p:sp>
      <p:sp>
        <p:nvSpPr>
          <p:cNvPr id="3" name="BENEFITS panel"/>
          <p:cNvSpPr/>
          <p:nvPr/>
        </p:nvSpPr>
        <p:spPr>
          <a:xfrm>
            <a:off x="548640" y="1325880"/>
            <a:ext cx="5330952" cy="4846320"/>
          </a:xfrm>
          <a:prstGeom prst="roundRect">
            <a:avLst>
              <a:gd name="adj" fmla="val 2264"/>
            </a:avLst>
          </a:prstGeom>
          <a:solidFill>
            <a:srgbClr val="111B3A"/>
          </a:solidFill>
          <a:ln w="19050">
            <a:solidFill>
              <a:srgbClr val="22C55E"/>
            </a:solidFill>
            <a:prstDash val="solid"/>
          </a:ln>
        </p:spPr>
      </p:sp>
      <p:sp>
        <p:nvSpPr>
          <p:cNvPr id="4" name="Text 2"/>
          <p:cNvSpPr txBox="1"/>
          <p:nvPr/>
        </p:nvSpPr>
        <p:spPr>
          <a:xfrm>
            <a:off x="822960" y="1463040"/>
            <a:ext cx="4754880" cy="457200"/>
          </a:xfrm>
          <a:prstGeom prst="rect">
            <a:avLst/>
          </a:prstGeom>
          <a:noFill/>
          <a:ln/>
        </p:spPr>
        <p:txBody>
          <a:bodyPr wrap="square" lIns="0" tIns="0" rIns="0" bIns="0" rtlCol="0" anchor="ctr"/>
          <a:lstStyle/>
          <a:p>
            <a:pPr indent="0" marL="0">
              <a:buNone/>
            </a:pPr>
            <a:r>
              <a:rPr lang="en-US" sz="2000" b="1" dirty="0">
                <a:solidFill>
                  <a:srgbClr val="22C55E"/>
                </a:solidFill>
                <a:latin typeface="Calibri" pitchFamily="34" charset="0"/>
                <a:ea typeface="Calibri" pitchFamily="34" charset="-122"/>
                <a:cs typeface="Calibri" pitchFamily="34" charset="-120"/>
              </a:rPr>
              <a:t>BENEFITS</a:t>
            </a:r>
            <a:endParaRPr lang="en-US" sz="2000" dirty="0"/>
          </a:p>
        </p:txBody>
      </p:sp>
      <p:pic>
        <p:nvPicPr>
          <p:cNvPr id="5" name="Image 0" descr="BENEFITS marker">    </p:cNvPr>
          <p:cNvPicPr>
            <a:picLocks noChangeAspect="1"/>
          </p:cNvPicPr>
          <p:nvPr/>
        </p:nvPicPr>
        <p:blipFill>
          <a:blip r:embed="rId1"/>
          <a:stretch>
            <a:fillRect/>
          </a:stretch>
        </p:blipFill>
        <p:spPr>
          <a:xfrm>
            <a:off x="822960" y="2203704"/>
            <a:ext cx="292608" cy="292608"/>
          </a:xfrm>
          <a:prstGeom prst="rect">
            <a:avLst/>
          </a:prstGeom>
        </p:spPr>
      </p:pic>
      <p:sp>
        <p:nvSpPr>
          <p:cNvPr id="6" name="Text 3"/>
          <p:cNvSpPr txBox="1"/>
          <p:nvPr/>
        </p:nvSpPr>
        <p:spPr>
          <a:xfrm>
            <a:off x="1280160" y="2057400"/>
            <a:ext cx="4389120" cy="5943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Simplifies permission inspection</a:t>
            </a:r>
            <a:endParaRPr lang="en-US" sz="1800" dirty="0"/>
          </a:p>
        </p:txBody>
      </p:sp>
      <p:pic>
        <p:nvPicPr>
          <p:cNvPr id="7" name="Image 1" descr="BENEFITS marker">    </p:cNvPr>
          <p:cNvPicPr>
            <a:picLocks noChangeAspect="1"/>
          </p:cNvPicPr>
          <p:nvPr/>
        </p:nvPicPr>
        <p:blipFill>
          <a:blip r:embed="rId2"/>
          <a:stretch>
            <a:fillRect/>
          </a:stretch>
        </p:blipFill>
        <p:spPr>
          <a:xfrm>
            <a:off x="822960" y="2889504"/>
            <a:ext cx="292608" cy="292608"/>
          </a:xfrm>
          <a:prstGeom prst="rect">
            <a:avLst/>
          </a:prstGeom>
        </p:spPr>
      </p:pic>
      <p:sp>
        <p:nvSpPr>
          <p:cNvPr id="8" name="Text 4"/>
          <p:cNvSpPr txBox="1"/>
          <p:nvPr/>
        </p:nvSpPr>
        <p:spPr>
          <a:xfrm>
            <a:off x="1280160" y="2743200"/>
            <a:ext cx="4389120" cy="5943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Helps identify potentially insecure configurations</a:t>
            </a:r>
            <a:endParaRPr lang="en-US" sz="1800" dirty="0"/>
          </a:p>
        </p:txBody>
      </p:sp>
      <p:pic>
        <p:nvPicPr>
          <p:cNvPr id="9" name="Image 2" descr="BENEFITS marker">    </p:cNvPr>
          <p:cNvPicPr>
            <a:picLocks noChangeAspect="1"/>
          </p:cNvPicPr>
          <p:nvPr/>
        </p:nvPicPr>
        <p:blipFill>
          <a:blip r:embed="rId3"/>
          <a:stretch>
            <a:fillRect/>
          </a:stretch>
        </p:blipFill>
        <p:spPr>
          <a:xfrm>
            <a:off x="822960" y="3575304"/>
            <a:ext cx="292608" cy="292608"/>
          </a:xfrm>
          <a:prstGeom prst="rect">
            <a:avLst/>
          </a:prstGeom>
        </p:spPr>
      </p:pic>
      <p:sp>
        <p:nvSpPr>
          <p:cNvPr id="10" name="Text 5"/>
          <p:cNvSpPr txBox="1"/>
          <p:nvPr/>
        </p:nvSpPr>
        <p:spPr>
          <a:xfrm>
            <a:off x="1280160" y="3429000"/>
            <a:ext cx="4389120" cy="5943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Improves understanding of Linux permissions</a:t>
            </a:r>
            <a:endParaRPr lang="en-US" sz="1800" dirty="0"/>
          </a:p>
        </p:txBody>
      </p:sp>
      <p:pic>
        <p:nvPicPr>
          <p:cNvPr id="11" name="Image 3" descr="BENEFITS marker">    </p:cNvPr>
          <p:cNvPicPr>
            <a:picLocks noChangeAspect="1"/>
          </p:cNvPicPr>
          <p:nvPr/>
        </p:nvPicPr>
        <p:blipFill>
          <a:blip r:embed="rId4"/>
          <a:stretch>
            <a:fillRect/>
          </a:stretch>
        </p:blipFill>
        <p:spPr>
          <a:xfrm>
            <a:off x="822960" y="4261104"/>
            <a:ext cx="292608" cy="292608"/>
          </a:xfrm>
          <a:prstGeom prst="rect">
            <a:avLst/>
          </a:prstGeom>
        </p:spPr>
      </p:pic>
      <p:sp>
        <p:nvSpPr>
          <p:cNvPr id="12" name="Text 6"/>
          <p:cNvSpPr txBox="1"/>
          <p:nvPr/>
        </p:nvSpPr>
        <p:spPr>
          <a:xfrm>
            <a:off x="1280160" y="4114800"/>
            <a:ext cx="4389120" cy="5943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Saves time during manual permission reviews</a:t>
            </a:r>
            <a:endParaRPr lang="en-US" sz="1800" dirty="0"/>
          </a:p>
        </p:txBody>
      </p:sp>
      <p:pic>
        <p:nvPicPr>
          <p:cNvPr id="13" name="Image 4" descr="BENEFITS marker">    </p:cNvPr>
          <p:cNvPicPr>
            <a:picLocks noChangeAspect="1"/>
          </p:cNvPicPr>
          <p:nvPr/>
        </p:nvPicPr>
        <p:blipFill>
          <a:blip r:embed="rId5"/>
          <a:stretch>
            <a:fillRect/>
          </a:stretch>
        </p:blipFill>
        <p:spPr>
          <a:xfrm>
            <a:off x="822960" y="4946904"/>
            <a:ext cx="292608" cy="292608"/>
          </a:xfrm>
          <a:prstGeom prst="rect">
            <a:avLst/>
          </a:prstGeom>
        </p:spPr>
      </p:pic>
      <p:sp>
        <p:nvSpPr>
          <p:cNvPr id="14" name="Text 7"/>
          <p:cNvSpPr txBox="1"/>
          <p:nvPr/>
        </p:nvSpPr>
        <p:spPr>
          <a:xfrm>
            <a:off x="1280160" y="4800600"/>
            <a:ext cx="4389120" cy="5943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Generates useful reports</a:t>
            </a:r>
            <a:endParaRPr lang="en-US" sz="1800" dirty="0"/>
          </a:p>
        </p:txBody>
      </p:sp>
      <p:pic>
        <p:nvPicPr>
          <p:cNvPr id="15" name="Image 5" descr="BENEFITS marker">    </p:cNvPr>
          <p:cNvPicPr>
            <a:picLocks noChangeAspect="1"/>
          </p:cNvPicPr>
          <p:nvPr/>
        </p:nvPicPr>
        <p:blipFill>
          <a:blip r:embed="rId6"/>
          <a:stretch>
            <a:fillRect/>
          </a:stretch>
        </p:blipFill>
        <p:spPr>
          <a:xfrm>
            <a:off x="822960" y="5632704"/>
            <a:ext cx="292608" cy="292608"/>
          </a:xfrm>
          <a:prstGeom prst="rect">
            <a:avLst/>
          </a:prstGeom>
        </p:spPr>
      </p:pic>
      <p:sp>
        <p:nvSpPr>
          <p:cNvPr id="16" name="Text 8"/>
          <p:cNvSpPr txBox="1"/>
          <p:nvPr/>
        </p:nvSpPr>
        <p:spPr>
          <a:xfrm>
            <a:off x="1280160" y="5486400"/>
            <a:ext cx="4389120" cy="5943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Supports Linux security education</a:t>
            </a:r>
            <a:endParaRPr lang="en-US" sz="1800" dirty="0"/>
          </a:p>
        </p:txBody>
      </p:sp>
      <p:sp>
        <p:nvSpPr>
          <p:cNvPr id="17" name="LIMITATIONS panel"/>
          <p:cNvSpPr/>
          <p:nvPr/>
        </p:nvSpPr>
        <p:spPr>
          <a:xfrm>
            <a:off x="6309360" y="1325880"/>
            <a:ext cx="5330952" cy="4846320"/>
          </a:xfrm>
          <a:prstGeom prst="roundRect">
            <a:avLst>
              <a:gd name="adj" fmla="val 2264"/>
            </a:avLst>
          </a:prstGeom>
          <a:solidFill>
            <a:srgbClr val="111B3A"/>
          </a:solidFill>
          <a:ln w="19050">
            <a:solidFill>
              <a:srgbClr val="F59E0B"/>
            </a:solidFill>
            <a:prstDash val="solid"/>
          </a:ln>
        </p:spPr>
      </p:sp>
      <p:sp>
        <p:nvSpPr>
          <p:cNvPr id="18" name="Text 10"/>
          <p:cNvSpPr txBox="1"/>
          <p:nvPr/>
        </p:nvSpPr>
        <p:spPr>
          <a:xfrm>
            <a:off x="6583680" y="1463040"/>
            <a:ext cx="4754880" cy="457200"/>
          </a:xfrm>
          <a:prstGeom prst="rect">
            <a:avLst/>
          </a:prstGeom>
          <a:noFill/>
          <a:ln/>
        </p:spPr>
        <p:txBody>
          <a:bodyPr wrap="square" lIns="0" tIns="0" rIns="0" bIns="0" rtlCol="0" anchor="ctr"/>
          <a:lstStyle/>
          <a:p>
            <a:pPr indent="0" marL="0">
              <a:buNone/>
            </a:pPr>
            <a:r>
              <a:rPr lang="en-US" sz="2000" b="1" dirty="0">
                <a:solidFill>
                  <a:srgbClr val="F59E0B"/>
                </a:solidFill>
                <a:latin typeface="Calibri" pitchFamily="34" charset="0"/>
                <a:ea typeface="Calibri" pitchFamily="34" charset="-122"/>
                <a:cs typeface="Calibri" pitchFamily="34" charset="-120"/>
              </a:rPr>
              <a:t>LIMITATIONS</a:t>
            </a:r>
            <a:endParaRPr lang="en-US" sz="2000" dirty="0"/>
          </a:p>
        </p:txBody>
      </p:sp>
      <p:pic>
        <p:nvPicPr>
          <p:cNvPr id="19" name="Image 6" descr="LIMITATIONS marker">    </p:cNvPr>
          <p:cNvPicPr>
            <a:picLocks noChangeAspect="1"/>
          </p:cNvPicPr>
          <p:nvPr/>
        </p:nvPicPr>
        <p:blipFill>
          <a:blip r:embed="rId7"/>
          <a:stretch>
            <a:fillRect/>
          </a:stretch>
        </p:blipFill>
        <p:spPr>
          <a:xfrm>
            <a:off x="6583680" y="2203704"/>
            <a:ext cx="292608" cy="292608"/>
          </a:xfrm>
          <a:prstGeom prst="rect">
            <a:avLst/>
          </a:prstGeom>
        </p:spPr>
      </p:pic>
      <p:sp>
        <p:nvSpPr>
          <p:cNvPr id="20" name="Text 11"/>
          <p:cNvSpPr txBox="1"/>
          <p:nvPr/>
        </p:nvSpPr>
        <p:spPr>
          <a:xfrm>
            <a:off x="7040880" y="2057400"/>
            <a:ext cx="4389120" cy="5943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Uses predefined permission rules</a:t>
            </a:r>
            <a:endParaRPr lang="en-US" sz="1800" dirty="0"/>
          </a:p>
        </p:txBody>
      </p:sp>
      <p:pic>
        <p:nvPicPr>
          <p:cNvPr id="21" name="Image 7" descr="LIMITATIONS marker">    </p:cNvPr>
          <p:cNvPicPr>
            <a:picLocks noChangeAspect="1"/>
          </p:cNvPicPr>
          <p:nvPr/>
        </p:nvPicPr>
        <p:blipFill>
          <a:blip r:embed="rId8"/>
          <a:stretch>
            <a:fillRect/>
          </a:stretch>
        </p:blipFill>
        <p:spPr>
          <a:xfrm>
            <a:off x="6583680" y="2889504"/>
            <a:ext cx="292608" cy="292608"/>
          </a:xfrm>
          <a:prstGeom prst="rect">
            <a:avLst/>
          </a:prstGeom>
        </p:spPr>
      </p:pic>
      <p:sp>
        <p:nvSpPr>
          <p:cNvPr id="22" name="Text 12"/>
          <p:cNvSpPr txBox="1"/>
          <p:nvPr/>
        </p:nvSpPr>
        <p:spPr>
          <a:xfrm>
            <a:off x="7040880" y="2743200"/>
            <a:ext cx="4389120" cy="5943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Does not replace a professional security audit</a:t>
            </a:r>
            <a:endParaRPr lang="en-US" sz="1800" dirty="0"/>
          </a:p>
        </p:txBody>
      </p:sp>
      <p:pic>
        <p:nvPicPr>
          <p:cNvPr id="23" name="Image 8" descr="LIMITATIONS marker">    </p:cNvPr>
          <p:cNvPicPr>
            <a:picLocks noChangeAspect="1"/>
          </p:cNvPicPr>
          <p:nvPr/>
        </p:nvPicPr>
        <p:blipFill>
          <a:blip r:embed="rId9"/>
          <a:stretch>
            <a:fillRect/>
          </a:stretch>
        </p:blipFill>
        <p:spPr>
          <a:xfrm>
            <a:off x="6583680" y="3575304"/>
            <a:ext cx="292608" cy="292608"/>
          </a:xfrm>
          <a:prstGeom prst="rect">
            <a:avLst/>
          </a:prstGeom>
        </p:spPr>
      </p:pic>
      <p:sp>
        <p:nvSpPr>
          <p:cNvPr id="24" name="Text 13"/>
          <p:cNvSpPr txBox="1"/>
          <p:nvPr/>
        </p:nvSpPr>
        <p:spPr>
          <a:xfrm>
            <a:off x="7040880" y="3429000"/>
            <a:ext cx="4389120" cy="5943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Does not detect every security vulnerability</a:t>
            </a:r>
            <a:endParaRPr lang="en-US" sz="1800" dirty="0"/>
          </a:p>
        </p:txBody>
      </p:sp>
      <p:pic>
        <p:nvPicPr>
          <p:cNvPr id="25" name="Image 9" descr="LIMITATIONS marker">    </p:cNvPr>
          <p:cNvPicPr>
            <a:picLocks noChangeAspect="1"/>
          </p:cNvPicPr>
          <p:nvPr/>
        </p:nvPicPr>
        <p:blipFill>
          <a:blip r:embed="rId10"/>
          <a:stretch>
            <a:fillRect/>
          </a:stretch>
        </p:blipFill>
        <p:spPr>
          <a:xfrm>
            <a:off x="6583680" y="4261104"/>
            <a:ext cx="292608" cy="292608"/>
          </a:xfrm>
          <a:prstGeom prst="rect">
            <a:avLst/>
          </a:prstGeom>
        </p:spPr>
      </p:pic>
      <p:sp>
        <p:nvSpPr>
          <p:cNvPr id="26" name="Text 14"/>
          <p:cNvSpPr txBox="1"/>
          <p:nvPr/>
        </p:nvSpPr>
        <p:spPr>
          <a:xfrm>
            <a:off x="7040880" y="4114800"/>
            <a:ext cx="4389120" cy="5943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Risk depends on ownership, file purpose and system configuration</a:t>
            </a:r>
            <a:endParaRPr lang="en-US" sz="1800" dirty="0"/>
          </a:p>
        </p:txBody>
      </p:sp>
      <p:pic>
        <p:nvPicPr>
          <p:cNvPr id="27" name="Image 10" descr="LIMITATIONS marker">    </p:cNvPr>
          <p:cNvPicPr>
            <a:picLocks noChangeAspect="1"/>
          </p:cNvPicPr>
          <p:nvPr/>
        </p:nvPicPr>
        <p:blipFill>
          <a:blip r:embed="rId11"/>
          <a:stretch>
            <a:fillRect/>
          </a:stretch>
        </p:blipFill>
        <p:spPr>
          <a:xfrm>
            <a:off x="6583680" y="4946904"/>
            <a:ext cx="292608" cy="292608"/>
          </a:xfrm>
          <a:prstGeom prst="rect">
            <a:avLst/>
          </a:prstGeom>
        </p:spPr>
      </p:pic>
      <p:sp>
        <p:nvSpPr>
          <p:cNvPr id="28" name="Text 15"/>
          <p:cNvSpPr txBox="1"/>
          <p:nvPr/>
        </p:nvSpPr>
        <p:spPr>
          <a:xfrm>
            <a:off x="7040880" y="4800600"/>
            <a:ext cx="4389120" cy="5943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Does not change permissions automatically</a:t>
            </a:r>
            <a:endParaRPr lang="en-US" sz="18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9B8D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Teamwork and Responsibilities</a:t>
            </a:r>
            <a:endParaRPr lang="en-US" sz="3400" dirty="0"/>
          </a:p>
        </p:txBody>
      </p:sp>
      <p:sp>
        <p:nvSpPr>
          <p:cNvPr id="3" name="Team card"/>
          <p:cNvSpPr/>
          <p:nvPr/>
        </p:nvSpPr>
        <p:spPr>
          <a:xfrm>
            <a:off x="548640" y="1371600"/>
            <a:ext cx="3520440" cy="3931920"/>
          </a:xfrm>
          <a:prstGeom prst="roundRect">
            <a:avLst>
              <a:gd name="adj" fmla="val 3117"/>
            </a:avLst>
          </a:prstGeom>
          <a:solidFill>
            <a:srgbClr val="111B3A"/>
          </a:solidFill>
          <a:ln w="12700">
            <a:solidFill>
              <a:srgbClr val="1F3C7A"/>
            </a:solidFill>
            <a:prstDash val="solid"/>
          </a:ln>
        </p:spPr>
      </p:sp>
      <p:sp>
        <p:nvSpPr>
          <p:cNvPr id="4" name="Initials"/>
          <p:cNvSpPr/>
          <p:nvPr/>
        </p:nvSpPr>
        <p:spPr>
          <a:xfrm>
            <a:off x="1801368" y="1645920"/>
            <a:ext cx="1005840" cy="1005840"/>
          </a:xfrm>
          <a:prstGeom prst="ellipse">
            <a:avLst/>
          </a:prstGeom>
          <a:solidFill>
            <a:srgbClr val="0E3A6E"/>
          </a:solidFill>
          <a:ln w="25400">
            <a:solidFill>
              <a:srgbClr val="00B4FF"/>
            </a:solidFill>
          </a:ln>
        </p:spPr>
        <p:txBody>
          <a:bodyPr wrap="square" lIns="0" tIns="0" rIns="0" bIns="0" rtlCol="0" anchor="ctr"/>
          <a:lstStyle/>
          <a:p>
            <a:pPr algn="ctr" indent="0" marL="0">
              <a:buNone/>
            </a:pPr>
            <a:r>
              <a:rPr lang="en-US" sz="3000" b="1" dirty="0">
                <a:solidFill>
                  <a:srgbClr val="00B4FF"/>
                </a:solidFill>
                <a:latin typeface="Calibri" pitchFamily="34" charset="0"/>
                <a:ea typeface="Calibri" pitchFamily="34" charset="-122"/>
                <a:cs typeface="Calibri" pitchFamily="34" charset="-120"/>
              </a:rPr>
              <a:t>AY</a:t>
            </a:r>
            <a:endParaRPr lang="en-US" sz="3000" dirty="0"/>
          </a:p>
        </p:txBody>
      </p:sp>
      <p:sp>
        <p:nvSpPr>
          <p:cNvPr id="5" name="Text 3"/>
          <p:cNvSpPr txBox="1"/>
          <p:nvPr/>
        </p:nvSpPr>
        <p:spPr>
          <a:xfrm>
            <a:off x="731520" y="2834640"/>
            <a:ext cx="315468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Abhishek Yadav K</a:t>
            </a:r>
            <a:endParaRPr lang="en-US" sz="2400" dirty="0"/>
          </a:p>
        </p:txBody>
      </p:sp>
      <p:sp>
        <p:nvSpPr>
          <p:cNvPr id="6" name="Text 4"/>
          <p:cNvSpPr txBox="1"/>
          <p:nvPr/>
        </p:nvSpPr>
        <p:spPr>
          <a:xfrm>
            <a:off x="731520" y="3291840"/>
            <a:ext cx="3154680" cy="365760"/>
          </a:xfrm>
          <a:prstGeom prst="rect">
            <a:avLst/>
          </a:prstGeom>
          <a:noFill/>
          <a:ln/>
        </p:spPr>
        <p:txBody>
          <a:bodyPr wrap="square" lIns="0" tIns="0" rIns="0" bIns="0" rtlCol="0" anchor="ctr"/>
          <a:lstStyle/>
          <a:p>
            <a:pPr algn="ctr" indent="0" marL="0">
              <a:buNone/>
            </a:pPr>
            <a:r>
              <a:rPr lang="en-US" sz="1700" dirty="0">
                <a:solidFill>
                  <a:srgbClr val="00B4FF"/>
                </a:solidFill>
                <a:latin typeface="Calibri" pitchFamily="34" charset="0"/>
                <a:ea typeface="Calibri" pitchFamily="34" charset="-122"/>
                <a:cs typeface="Calibri" pitchFamily="34" charset="-120"/>
              </a:rPr>
              <a:t>Roll Number: 2520090208</a:t>
            </a:r>
            <a:endParaRPr lang="en-US" sz="1700" dirty="0"/>
          </a:p>
        </p:txBody>
      </p:sp>
      <p:sp>
        <p:nvSpPr>
          <p:cNvPr id="7" name="Text 5"/>
          <p:cNvSpPr txBox="1"/>
          <p:nvPr/>
        </p:nvSpPr>
        <p:spPr>
          <a:xfrm>
            <a:off x="822960" y="3840480"/>
            <a:ext cx="2971800" cy="274320"/>
          </a:xfrm>
          <a:prstGeom prst="rect">
            <a:avLst/>
          </a:prstGeom>
          <a:noFill/>
          <a:ln/>
        </p:spPr>
        <p:txBody>
          <a:bodyPr wrap="square" lIns="0" tIns="0" rIns="0" bIns="0" rtlCol="0" anchor="ctr"/>
          <a:lstStyle/>
          <a:p>
            <a:pPr indent="0" marL="0">
              <a:buNone/>
            </a:pPr>
            <a:r>
              <a:rPr lang="en-US" sz="1300" b="1" dirty="0">
                <a:solidFill>
                  <a:srgbClr val="A9B8D6"/>
                </a:solidFill>
                <a:latin typeface="Calibri" pitchFamily="34" charset="0"/>
                <a:ea typeface="Calibri" pitchFamily="34" charset="-122"/>
                <a:cs typeface="Calibri" pitchFamily="34" charset="-120"/>
              </a:rPr>
              <a:t>ROLE</a:t>
            </a:r>
            <a:endParaRPr lang="en-US" sz="1300" dirty="0"/>
          </a:p>
        </p:txBody>
      </p:sp>
      <p:sp>
        <p:nvSpPr>
          <p:cNvPr id="8" name="Text 6"/>
          <p:cNvSpPr txBox="1"/>
          <p:nvPr/>
        </p:nvSpPr>
        <p:spPr>
          <a:xfrm>
            <a:off x="822960" y="4114800"/>
            <a:ext cx="2971800" cy="100584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File metadata collection and permission analysis</a:t>
            </a:r>
            <a:endParaRPr lang="en-US" sz="1700" dirty="0"/>
          </a:p>
        </p:txBody>
      </p:sp>
      <p:sp>
        <p:nvSpPr>
          <p:cNvPr id="9" name="Team card"/>
          <p:cNvSpPr/>
          <p:nvPr/>
        </p:nvSpPr>
        <p:spPr>
          <a:xfrm>
            <a:off x="4334256" y="1371600"/>
            <a:ext cx="3520440" cy="3931920"/>
          </a:xfrm>
          <a:prstGeom prst="roundRect">
            <a:avLst>
              <a:gd name="adj" fmla="val 3117"/>
            </a:avLst>
          </a:prstGeom>
          <a:solidFill>
            <a:srgbClr val="111B3A"/>
          </a:solidFill>
          <a:ln w="12700">
            <a:solidFill>
              <a:srgbClr val="1F3C7A"/>
            </a:solidFill>
            <a:prstDash val="solid"/>
          </a:ln>
        </p:spPr>
      </p:sp>
      <p:sp>
        <p:nvSpPr>
          <p:cNvPr id="10" name="Initials"/>
          <p:cNvSpPr/>
          <p:nvPr/>
        </p:nvSpPr>
        <p:spPr>
          <a:xfrm>
            <a:off x="5586984" y="1645920"/>
            <a:ext cx="1005840" cy="1005840"/>
          </a:xfrm>
          <a:prstGeom prst="ellipse">
            <a:avLst/>
          </a:prstGeom>
          <a:solidFill>
            <a:srgbClr val="0E3A6E"/>
          </a:solidFill>
          <a:ln w="25400">
            <a:solidFill>
              <a:srgbClr val="00B4FF"/>
            </a:solidFill>
          </a:ln>
        </p:spPr>
        <p:txBody>
          <a:bodyPr wrap="square" lIns="0" tIns="0" rIns="0" bIns="0" rtlCol="0" anchor="ctr"/>
          <a:lstStyle/>
          <a:p>
            <a:pPr algn="ctr" indent="0" marL="0">
              <a:buNone/>
            </a:pPr>
            <a:r>
              <a:rPr lang="en-US" sz="3000" b="1" dirty="0">
                <a:solidFill>
                  <a:srgbClr val="00B4FF"/>
                </a:solidFill>
                <a:latin typeface="Calibri" pitchFamily="34" charset="0"/>
                <a:ea typeface="Calibri" pitchFamily="34" charset="-122"/>
                <a:cs typeface="Calibri" pitchFamily="34" charset="-120"/>
              </a:rPr>
              <a:t>SV</a:t>
            </a:r>
            <a:endParaRPr lang="en-US" sz="3000" dirty="0"/>
          </a:p>
        </p:txBody>
      </p:sp>
      <p:sp>
        <p:nvSpPr>
          <p:cNvPr id="11" name="Text 9"/>
          <p:cNvSpPr txBox="1"/>
          <p:nvPr/>
        </p:nvSpPr>
        <p:spPr>
          <a:xfrm>
            <a:off x="4517136" y="2834640"/>
            <a:ext cx="315468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S Venu Gopal</a:t>
            </a:r>
            <a:endParaRPr lang="en-US" sz="2400" dirty="0"/>
          </a:p>
        </p:txBody>
      </p:sp>
      <p:sp>
        <p:nvSpPr>
          <p:cNvPr id="12" name="Text 10"/>
          <p:cNvSpPr txBox="1"/>
          <p:nvPr/>
        </p:nvSpPr>
        <p:spPr>
          <a:xfrm>
            <a:off x="4517136" y="3291840"/>
            <a:ext cx="3154680" cy="365760"/>
          </a:xfrm>
          <a:prstGeom prst="rect">
            <a:avLst/>
          </a:prstGeom>
          <a:noFill/>
          <a:ln/>
        </p:spPr>
        <p:txBody>
          <a:bodyPr wrap="square" lIns="0" tIns="0" rIns="0" bIns="0" rtlCol="0" anchor="ctr"/>
          <a:lstStyle/>
          <a:p>
            <a:pPr algn="ctr" indent="0" marL="0">
              <a:buNone/>
            </a:pPr>
            <a:r>
              <a:rPr lang="en-US" sz="1700" dirty="0">
                <a:solidFill>
                  <a:srgbClr val="00B4FF"/>
                </a:solidFill>
                <a:latin typeface="Calibri" pitchFamily="34" charset="0"/>
                <a:ea typeface="Calibri" pitchFamily="34" charset="-122"/>
                <a:cs typeface="Calibri" pitchFamily="34" charset="-120"/>
              </a:rPr>
              <a:t>Roll Number: 2520090185</a:t>
            </a:r>
            <a:endParaRPr lang="en-US" sz="1700" dirty="0"/>
          </a:p>
        </p:txBody>
      </p:sp>
      <p:sp>
        <p:nvSpPr>
          <p:cNvPr id="13" name="Text 11"/>
          <p:cNvSpPr txBox="1"/>
          <p:nvPr/>
        </p:nvSpPr>
        <p:spPr>
          <a:xfrm>
            <a:off x="4608576" y="3840480"/>
            <a:ext cx="2971800" cy="274320"/>
          </a:xfrm>
          <a:prstGeom prst="rect">
            <a:avLst/>
          </a:prstGeom>
          <a:noFill/>
          <a:ln/>
        </p:spPr>
        <p:txBody>
          <a:bodyPr wrap="square" lIns="0" tIns="0" rIns="0" bIns="0" rtlCol="0" anchor="ctr"/>
          <a:lstStyle/>
          <a:p>
            <a:pPr indent="0" marL="0">
              <a:buNone/>
            </a:pPr>
            <a:r>
              <a:rPr lang="en-US" sz="1300" b="1" dirty="0">
                <a:solidFill>
                  <a:srgbClr val="A9B8D6"/>
                </a:solidFill>
                <a:latin typeface="Calibri" pitchFamily="34" charset="0"/>
                <a:ea typeface="Calibri" pitchFamily="34" charset="-122"/>
                <a:cs typeface="Calibri" pitchFamily="34" charset="-120"/>
              </a:rPr>
              <a:t>ROLE</a:t>
            </a:r>
            <a:endParaRPr lang="en-US" sz="1300" dirty="0"/>
          </a:p>
        </p:txBody>
      </p:sp>
      <p:sp>
        <p:nvSpPr>
          <p:cNvPr id="14" name="Text 12"/>
          <p:cNvSpPr txBox="1"/>
          <p:nvPr/>
        </p:nvSpPr>
        <p:spPr>
          <a:xfrm>
            <a:off x="4608576" y="4114800"/>
            <a:ext cx="2971800" cy="100584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Security rules, severity classification and application integration</a:t>
            </a:r>
            <a:endParaRPr lang="en-US" sz="1700" dirty="0"/>
          </a:p>
        </p:txBody>
      </p:sp>
      <p:sp>
        <p:nvSpPr>
          <p:cNvPr id="15" name="Team card"/>
          <p:cNvSpPr/>
          <p:nvPr/>
        </p:nvSpPr>
        <p:spPr>
          <a:xfrm>
            <a:off x="8119872" y="1371600"/>
            <a:ext cx="3520440" cy="3931920"/>
          </a:xfrm>
          <a:prstGeom prst="roundRect">
            <a:avLst>
              <a:gd name="adj" fmla="val 3117"/>
            </a:avLst>
          </a:prstGeom>
          <a:solidFill>
            <a:srgbClr val="111B3A"/>
          </a:solidFill>
          <a:ln w="12700">
            <a:solidFill>
              <a:srgbClr val="1F3C7A"/>
            </a:solidFill>
            <a:prstDash val="solid"/>
          </a:ln>
        </p:spPr>
      </p:sp>
      <p:sp>
        <p:nvSpPr>
          <p:cNvPr id="16" name="Initials"/>
          <p:cNvSpPr/>
          <p:nvPr/>
        </p:nvSpPr>
        <p:spPr>
          <a:xfrm>
            <a:off x="9372600" y="1645920"/>
            <a:ext cx="1005840" cy="1005840"/>
          </a:xfrm>
          <a:prstGeom prst="ellipse">
            <a:avLst/>
          </a:prstGeom>
          <a:solidFill>
            <a:srgbClr val="0E3A6E"/>
          </a:solidFill>
          <a:ln w="25400">
            <a:solidFill>
              <a:srgbClr val="00B4FF"/>
            </a:solidFill>
          </a:ln>
        </p:spPr>
        <p:txBody>
          <a:bodyPr wrap="square" lIns="0" tIns="0" rIns="0" bIns="0" rtlCol="0" anchor="ctr"/>
          <a:lstStyle/>
          <a:p>
            <a:pPr algn="ctr" indent="0" marL="0">
              <a:buNone/>
            </a:pPr>
            <a:r>
              <a:rPr lang="en-US" sz="3000" b="1" dirty="0">
                <a:solidFill>
                  <a:srgbClr val="00B4FF"/>
                </a:solidFill>
                <a:latin typeface="Calibri" pitchFamily="34" charset="0"/>
                <a:ea typeface="Calibri" pitchFamily="34" charset="-122"/>
                <a:cs typeface="Calibri" pitchFamily="34" charset="-120"/>
              </a:rPr>
              <a:t>RR</a:t>
            </a:r>
            <a:endParaRPr lang="en-US" sz="3000" dirty="0"/>
          </a:p>
        </p:txBody>
      </p:sp>
      <p:sp>
        <p:nvSpPr>
          <p:cNvPr id="17" name="Text 15"/>
          <p:cNvSpPr txBox="1"/>
          <p:nvPr/>
        </p:nvSpPr>
        <p:spPr>
          <a:xfrm>
            <a:off x="8302752" y="2834640"/>
            <a:ext cx="315468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R ROHIT</a:t>
            </a:r>
            <a:endParaRPr lang="en-US" sz="2400" dirty="0"/>
          </a:p>
        </p:txBody>
      </p:sp>
      <p:sp>
        <p:nvSpPr>
          <p:cNvPr id="18" name="Text 16"/>
          <p:cNvSpPr txBox="1"/>
          <p:nvPr/>
        </p:nvSpPr>
        <p:spPr>
          <a:xfrm>
            <a:off x="8302752" y="3291840"/>
            <a:ext cx="3154680" cy="365760"/>
          </a:xfrm>
          <a:prstGeom prst="rect">
            <a:avLst/>
          </a:prstGeom>
          <a:noFill/>
          <a:ln/>
        </p:spPr>
        <p:txBody>
          <a:bodyPr wrap="square" lIns="0" tIns="0" rIns="0" bIns="0" rtlCol="0" anchor="ctr"/>
          <a:lstStyle/>
          <a:p>
            <a:pPr algn="ctr" indent="0" marL="0">
              <a:buNone/>
            </a:pPr>
            <a:r>
              <a:rPr lang="en-US" sz="1700" dirty="0">
                <a:solidFill>
                  <a:srgbClr val="00B4FF"/>
                </a:solidFill>
                <a:latin typeface="Calibri" pitchFamily="34" charset="0"/>
                <a:ea typeface="Calibri" pitchFamily="34" charset="-122"/>
                <a:cs typeface="Calibri" pitchFamily="34" charset="-120"/>
              </a:rPr>
              <a:t>Roll Number: 2520080037</a:t>
            </a:r>
            <a:endParaRPr lang="en-US" sz="1700" dirty="0"/>
          </a:p>
        </p:txBody>
      </p:sp>
      <p:sp>
        <p:nvSpPr>
          <p:cNvPr id="19" name="Text 17"/>
          <p:cNvSpPr txBox="1"/>
          <p:nvPr/>
        </p:nvSpPr>
        <p:spPr>
          <a:xfrm>
            <a:off x="8394192" y="3840480"/>
            <a:ext cx="2971800" cy="274320"/>
          </a:xfrm>
          <a:prstGeom prst="rect">
            <a:avLst/>
          </a:prstGeom>
          <a:noFill/>
          <a:ln/>
        </p:spPr>
        <p:txBody>
          <a:bodyPr wrap="square" lIns="0" tIns="0" rIns="0" bIns="0" rtlCol="0" anchor="ctr"/>
          <a:lstStyle/>
          <a:p>
            <a:pPr indent="0" marL="0">
              <a:buNone/>
            </a:pPr>
            <a:r>
              <a:rPr lang="en-US" sz="1300" b="1" dirty="0">
                <a:solidFill>
                  <a:srgbClr val="A9B8D6"/>
                </a:solidFill>
                <a:latin typeface="Calibri" pitchFamily="34" charset="0"/>
                <a:ea typeface="Calibri" pitchFamily="34" charset="-122"/>
                <a:cs typeface="Calibri" pitchFamily="34" charset="-120"/>
              </a:rPr>
              <a:t>ROLE</a:t>
            </a:r>
            <a:endParaRPr lang="en-US" sz="1300" dirty="0"/>
          </a:p>
        </p:txBody>
      </p:sp>
      <p:sp>
        <p:nvSpPr>
          <p:cNvPr id="20" name="Text 18"/>
          <p:cNvSpPr txBox="1"/>
          <p:nvPr/>
        </p:nvSpPr>
        <p:spPr>
          <a:xfrm>
            <a:off x="8394192" y="4114800"/>
            <a:ext cx="2971800" cy="100584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Directory scanning, testing, reporting and documentation</a:t>
            </a:r>
            <a:endParaRPr lang="en-US" sz="1700" dirty="0"/>
          </a:p>
        </p:txBody>
      </p:sp>
      <p:sp>
        <p:nvSpPr>
          <p:cNvPr id="21" name="Team note"/>
          <p:cNvSpPr/>
          <p:nvPr/>
        </p:nvSpPr>
        <p:spPr>
          <a:xfrm>
            <a:off x="548640" y="5532120"/>
            <a:ext cx="11091672" cy="594360"/>
          </a:xfrm>
          <a:prstGeom prst="roundRect">
            <a:avLst>
              <a:gd name="adj" fmla="val 15385"/>
            </a:avLst>
          </a:prstGeom>
          <a:solidFill>
            <a:srgbClr val="0E3A6E"/>
          </a:solidFill>
          <a:ln w="12700">
            <a:solidFill>
              <a:srgbClr val="00B4F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Every team member contributes and understands the overall system architecture.</a:t>
            </a:r>
            <a:endParaRPr lang="en-US" sz="19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9B8D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1672" cy="777240"/>
          </a:xfrm>
          <a:prstGeom prst="rect">
            <a:avLst/>
          </a:prstGeom>
          <a:noFill/>
          <a:ln/>
        </p:spPr>
        <p:txBody>
          <a:bodyPr wrap="square" lIns="0" tIns="0" rIns="0" bIns="0" rtlCol="0" anchor="ctr"/>
          <a:lstStyle/>
          <a:p>
            <a:pPr algn="l" indent="0" marL="0">
              <a:buNone/>
            </a:pPr>
            <a:r>
              <a:rPr lang="en-US" sz="3400" b="1" dirty="0">
                <a:solidFill>
                  <a:srgbClr val="FFFFFF"/>
                </a:solidFill>
                <a:latin typeface="Calibri" pitchFamily="34" charset="0"/>
                <a:ea typeface="Calibri" pitchFamily="34" charset="-122"/>
                <a:cs typeface="Calibri" pitchFamily="34" charset="-120"/>
              </a:rPr>
              <a:t>Making Linux File Permissions Easier to Understand</a:t>
            </a:r>
            <a:endParaRPr lang="en-US" sz="3400" dirty="0"/>
          </a:p>
        </p:txBody>
      </p:sp>
      <p:sp>
        <p:nvSpPr>
          <p:cNvPr id="3" name="Conclusion card"/>
          <p:cNvSpPr/>
          <p:nvPr/>
        </p:nvSpPr>
        <p:spPr>
          <a:xfrm>
            <a:off x="548640" y="1371600"/>
            <a:ext cx="4754880" cy="3063240"/>
          </a:xfrm>
          <a:prstGeom prst="roundRect">
            <a:avLst>
              <a:gd name="adj" fmla="val 3582"/>
            </a:avLst>
          </a:prstGeom>
          <a:solidFill>
            <a:srgbClr val="111B3A"/>
          </a:solidFill>
          <a:ln w="12700">
            <a:solidFill>
              <a:srgbClr val="1F3C7A"/>
            </a:solidFill>
            <a:prstDash val="solid"/>
          </a:ln>
        </p:spPr>
      </p:sp>
      <p:sp>
        <p:nvSpPr>
          <p:cNvPr id="4" name="Text 2"/>
          <p:cNvSpPr txBox="1"/>
          <p:nvPr/>
        </p:nvSpPr>
        <p:spPr>
          <a:xfrm>
            <a:off x="822960" y="1508760"/>
            <a:ext cx="4206240" cy="365760"/>
          </a:xfrm>
          <a:prstGeom prst="rect">
            <a:avLst/>
          </a:prstGeom>
          <a:noFill/>
          <a:ln/>
        </p:spPr>
        <p:txBody>
          <a:bodyPr wrap="square" lIns="0" tIns="0" rIns="0" bIns="0" rtlCol="0" anchor="ctr"/>
          <a:lstStyle/>
          <a:p>
            <a:pPr indent="0" marL="0">
              <a:buNone/>
            </a:pPr>
            <a:r>
              <a:rPr lang="en-US" sz="1800" b="1" dirty="0">
                <a:solidFill>
                  <a:srgbClr val="00B4FF"/>
                </a:solidFill>
                <a:latin typeface="Calibri" pitchFamily="34" charset="0"/>
                <a:ea typeface="Calibri" pitchFamily="34" charset="-122"/>
                <a:cs typeface="Calibri" pitchFamily="34" charset="-120"/>
              </a:rPr>
              <a:t>CONCLUSION</a:t>
            </a:r>
            <a:endParaRPr lang="en-US" sz="1800" dirty="0"/>
          </a:p>
        </p:txBody>
      </p:sp>
      <p:sp>
        <p:nvSpPr>
          <p:cNvPr id="5" name="Text 3"/>
          <p:cNvSpPr txBox="1"/>
          <p:nvPr/>
        </p:nvSpPr>
        <p:spPr>
          <a:xfrm>
            <a:off x="822960" y="1920240"/>
            <a:ext cx="4206240" cy="23774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The Linux File Permission Analyzer is designed to help Linux users inspect file permissions, identify potentially risky configurations, and understand appropriate corrective actions.</a:t>
            </a:r>
            <a:endParaRPr lang="en-US" sz="2000" dirty="0"/>
          </a:p>
        </p:txBody>
      </p:sp>
      <p:sp>
        <p:nvSpPr>
          <p:cNvPr id="6" name="Future scope card"/>
          <p:cNvSpPr/>
          <p:nvPr/>
        </p:nvSpPr>
        <p:spPr>
          <a:xfrm>
            <a:off x="5577840" y="1371600"/>
            <a:ext cx="6062472" cy="3063240"/>
          </a:xfrm>
          <a:prstGeom prst="roundRect">
            <a:avLst>
              <a:gd name="adj" fmla="val 3582"/>
            </a:avLst>
          </a:prstGeom>
          <a:solidFill>
            <a:srgbClr val="111B3A"/>
          </a:solidFill>
          <a:ln w="12700">
            <a:solidFill>
              <a:srgbClr val="1F3C7A"/>
            </a:solidFill>
            <a:prstDash val="solid"/>
          </a:ln>
        </p:spPr>
      </p:sp>
      <p:sp>
        <p:nvSpPr>
          <p:cNvPr id="7" name="Text 5"/>
          <p:cNvSpPr txBox="1"/>
          <p:nvPr/>
        </p:nvSpPr>
        <p:spPr>
          <a:xfrm>
            <a:off x="5852160" y="1508760"/>
            <a:ext cx="5486400" cy="365760"/>
          </a:xfrm>
          <a:prstGeom prst="rect">
            <a:avLst/>
          </a:prstGeom>
          <a:noFill/>
          <a:ln/>
        </p:spPr>
        <p:txBody>
          <a:bodyPr wrap="square" lIns="0" tIns="0" rIns="0" bIns="0" rtlCol="0" anchor="ctr"/>
          <a:lstStyle/>
          <a:p>
            <a:pPr indent="0" marL="0">
              <a:buNone/>
            </a:pPr>
            <a:r>
              <a:rPr lang="en-US" sz="1800" b="1" dirty="0">
                <a:solidFill>
                  <a:srgbClr val="00B4FF"/>
                </a:solidFill>
                <a:latin typeface="Calibri" pitchFamily="34" charset="0"/>
                <a:ea typeface="Calibri" pitchFamily="34" charset="-122"/>
                <a:cs typeface="Calibri" pitchFamily="34" charset="-120"/>
              </a:rPr>
              <a:t>FUTURE ENHANCEMENTS</a:t>
            </a:r>
            <a:endParaRPr lang="en-US" sz="1800" dirty="0"/>
          </a:p>
        </p:txBody>
      </p:sp>
      <p:sp>
        <p:nvSpPr>
          <p:cNvPr id="8" name="Text 6"/>
          <p:cNvSpPr txBox="1"/>
          <p:nvPr/>
        </p:nvSpPr>
        <p:spPr>
          <a:xfrm>
            <a:off x="5852160" y="1920240"/>
            <a:ext cx="5577840" cy="2423160"/>
          </a:xfrm>
          <a:prstGeom prst="rect">
            <a:avLst/>
          </a:prstGeom>
          <a:noFill/>
          <a:ln/>
        </p:spPr>
        <p:txBody>
          <a:bodyPr wrap="square" lIns="0" tIns="0" rIns="0" bIns="0" rtlCol="0" anchor="t"/>
          <a:lstStyle/>
          <a:p>
            <a:pPr marL="342900" indent="-342900">
              <a:spcAft>
                <a:spcPts val="500"/>
              </a:spcAft>
              <a:buSzPct val="100000"/>
              <a:buChar char="•"/>
            </a:pPr>
            <a:r>
              <a:rPr lang="en-US" sz="1800" dirty="0">
                <a:solidFill>
                  <a:srgbClr val="FFFFFF"/>
                </a:solidFill>
                <a:latin typeface="Calibri" pitchFamily="34" charset="0"/>
                <a:ea typeface="Calibri" pitchFamily="34" charset="-122"/>
                <a:cs typeface="Calibri" pitchFamily="34" charset="-120"/>
              </a:rPr>
              <a:t>Improved security rule engine</a:t>
            </a:r>
            <a:endParaRPr lang="en-US" sz="1800" dirty="0"/>
          </a:p>
          <a:p>
            <a:pPr marL="342900" indent="-342900">
              <a:spcAft>
                <a:spcPts val="500"/>
              </a:spcAft>
              <a:buSzPct val="100000"/>
              <a:buChar char="•"/>
            </a:pPr>
            <a:r>
              <a:rPr lang="en-US" sz="1800" dirty="0">
                <a:solidFill>
                  <a:srgbClr val="FFFFFF"/>
                </a:solidFill>
                <a:latin typeface="Calibri" pitchFamily="34" charset="0"/>
                <a:ea typeface="Calibri" pitchFamily="34" charset="-122"/>
                <a:cs typeface="Calibri" pitchFamily="34" charset="-120"/>
              </a:rPr>
              <a:t>Exportable HTML reports</a:t>
            </a:r>
            <a:endParaRPr lang="en-US" sz="1800" dirty="0"/>
          </a:p>
          <a:p>
            <a:pPr marL="342900" indent="-342900">
              <a:spcAft>
                <a:spcPts val="500"/>
              </a:spcAft>
              <a:buSzPct val="100000"/>
              <a:buChar char="•"/>
            </a:pPr>
            <a:r>
              <a:rPr lang="en-US" sz="1800" dirty="0">
                <a:solidFill>
                  <a:srgbClr val="FFFFFF"/>
                </a:solidFill>
                <a:latin typeface="Calibri" pitchFamily="34" charset="0"/>
                <a:ea typeface="Calibri" pitchFamily="34" charset="-122"/>
                <a:cs typeface="Calibri" pitchFamily="34" charset="-120"/>
              </a:rPr>
              <a:t>Interactive graphical interface</a:t>
            </a:r>
            <a:endParaRPr lang="en-US" sz="1800" dirty="0"/>
          </a:p>
          <a:p>
            <a:pPr marL="342900" indent="-342900">
              <a:spcAft>
                <a:spcPts val="500"/>
              </a:spcAft>
              <a:buSzPct val="100000"/>
              <a:buChar char="•"/>
            </a:pPr>
            <a:r>
              <a:rPr lang="en-US" sz="1800" dirty="0">
                <a:solidFill>
                  <a:srgbClr val="FFFFFF"/>
                </a:solidFill>
                <a:latin typeface="Calibri" pitchFamily="34" charset="0"/>
                <a:ea typeface="Calibri" pitchFamily="34" charset="-122"/>
                <a:cs typeface="Calibri" pitchFamily="34" charset="-120"/>
              </a:rPr>
              <a:t>More detailed ownership analysis</a:t>
            </a:r>
            <a:endParaRPr lang="en-US" sz="1800" dirty="0"/>
          </a:p>
          <a:p>
            <a:pPr marL="342900" indent="-342900">
              <a:spcAft>
                <a:spcPts val="500"/>
              </a:spcAft>
              <a:buSzPct val="100000"/>
              <a:buChar char="•"/>
            </a:pPr>
            <a:r>
              <a:rPr lang="en-US" sz="1800" dirty="0">
                <a:solidFill>
                  <a:srgbClr val="FFFFFF"/>
                </a:solidFill>
                <a:latin typeface="Calibri" pitchFamily="34" charset="0"/>
                <a:ea typeface="Calibri" pitchFamily="34" charset="-122"/>
                <a:cs typeface="Calibri" pitchFamily="34" charset="-120"/>
              </a:rPr>
              <a:t>Configurable permission policies</a:t>
            </a:r>
            <a:endParaRPr lang="en-US" sz="1800" dirty="0"/>
          </a:p>
          <a:p>
            <a:pPr marL="342900" indent="-342900">
              <a:spcAft>
                <a:spcPts val="500"/>
              </a:spcAft>
              <a:buSzPct val="100000"/>
              <a:buChar char="•"/>
            </a:pPr>
            <a:r>
              <a:rPr lang="en-US" sz="1800" dirty="0">
                <a:solidFill>
                  <a:srgbClr val="FFFFFF"/>
                </a:solidFill>
                <a:latin typeface="Calibri" pitchFamily="34" charset="0"/>
                <a:ea typeface="Calibri" pitchFamily="34" charset="-122"/>
                <a:cs typeface="Calibri" pitchFamily="34" charset="-120"/>
              </a:rPr>
              <a:t>Integration with automated testing tools</a:t>
            </a:r>
            <a:endParaRPr lang="en-US" sz="1800" dirty="0"/>
          </a:p>
          <a:p>
            <a:pPr marL="342900" indent="-342900">
              <a:spcAft>
                <a:spcPts val="500"/>
              </a:spcAft>
              <a:buSzPct val="100000"/>
              <a:buChar char="•"/>
            </a:pPr>
            <a:r>
              <a:rPr lang="en-US" sz="1800" dirty="0">
                <a:solidFill>
                  <a:srgbClr val="FFFFFF"/>
                </a:solidFill>
                <a:latin typeface="Calibri" pitchFamily="34" charset="0"/>
                <a:ea typeface="Calibri" pitchFamily="34" charset="-122"/>
                <a:cs typeface="Calibri" pitchFamily="34" charset="-120"/>
              </a:rPr>
              <a:t>Optional recommendations for permission correction</a:t>
            </a:r>
            <a:endParaRPr lang="en-US" sz="1800" dirty="0"/>
          </a:p>
        </p:txBody>
      </p:sp>
      <p:sp>
        <p:nvSpPr>
          <p:cNvPr id="9" name="Thank you band"/>
          <p:cNvSpPr/>
          <p:nvPr/>
        </p:nvSpPr>
        <p:spPr>
          <a:xfrm>
            <a:off x="548640" y="4663440"/>
            <a:ext cx="11091672" cy="1508760"/>
          </a:xfrm>
          <a:prstGeom prst="roundRect">
            <a:avLst>
              <a:gd name="adj" fmla="val 7273"/>
            </a:avLst>
          </a:prstGeom>
          <a:solidFill>
            <a:srgbClr val="0B5C99"/>
          </a:solidFill>
          <a:ln w="19050">
            <a:solidFill>
              <a:srgbClr val="00B4FF"/>
            </a:solidFill>
            <a:prstDash val="solid"/>
          </a:ln>
        </p:spPr>
      </p:sp>
      <p:pic>
        <p:nvPicPr>
          <p:cNvPr id="10" name="Image 0" descr="Shield icon">    </p:cNvPr>
          <p:cNvPicPr>
            <a:picLocks noChangeAspect="1"/>
          </p:cNvPicPr>
          <p:nvPr/>
        </p:nvPicPr>
        <p:blipFill>
          <a:blip r:embed="rId1"/>
          <a:stretch>
            <a:fillRect/>
          </a:stretch>
        </p:blipFill>
        <p:spPr>
          <a:xfrm>
            <a:off x="868680" y="4919472"/>
            <a:ext cx="1005840" cy="1005840"/>
          </a:xfrm>
          <a:prstGeom prst="rect">
            <a:avLst/>
          </a:prstGeom>
        </p:spPr>
      </p:pic>
      <p:sp>
        <p:nvSpPr>
          <p:cNvPr id="11" name="Text 8"/>
          <p:cNvSpPr txBox="1"/>
          <p:nvPr/>
        </p:nvSpPr>
        <p:spPr>
          <a:xfrm>
            <a:off x="2194560" y="4754880"/>
            <a:ext cx="54864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12" name="Text 9"/>
          <p:cNvSpPr txBox="1"/>
          <p:nvPr/>
        </p:nvSpPr>
        <p:spPr>
          <a:xfrm>
            <a:off x="2194560" y="5532120"/>
            <a:ext cx="5486400" cy="36576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Linux File Permission Analyzer</a:t>
            </a:r>
            <a:endParaRPr lang="en-US" sz="2000" dirty="0"/>
          </a:p>
        </p:txBody>
      </p:sp>
      <p:sp>
        <p:nvSpPr>
          <p:cNvPr id="13" name="Text 10"/>
          <p:cNvSpPr txBox="1"/>
          <p:nvPr/>
        </p:nvSpPr>
        <p:spPr>
          <a:xfrm>
            <a:off x="7680960" y="5074920"/>
            <a:ext cx="3657600" cy="457200"/>
          </a:xfrm>
          <a:prstGeom prst="rect">
            <a:avLst/>
          </a:prstGeom>
          <a:noFill/>
          <a:ln/>
        </p:spPr>
        <p:txBody>
          <a:bodyPr wrap="square" lIns="0" tIns="0" rIns="0" bIns="0" rtlCol="0" anchor="ctr"/>
          <a:lstStyle/>
          <a:p>
            <a:pPr algn="r" indent="0" marL="0">
              <a:buNone/>
            </a:pPr>
            <a:r>
              <a:rPr lang="en-US" sz="2200" b="1" dirty="0">
                <a:solidFill>
                  <a:srgbClr val="FFFFFF"/>
                </a:solidFill>
                <a:latin typeface="Calibri" pitchFamily="34" charset="0"/>
                <a:ea typeface="Calibri" pitchFamily="34" charset="-122"/>
                <a:cs typeface="Calibri" pitchFamily="34" charset="-120"/>
              </a:rPr>
              <a:t>Hackathon Expo 2026</a:t>
            </a:r>
            <a:endParaRPr lang="en-US" sz="2200" dirty="0"/>
          </a:p>
        </p:txBody>
      </p:sp>
      <p:sp>
        <p:nvSpPr>
          <p:cNvPr id="14" name="Text 11"/>
          <p:cNvSpPr txBox="1"/>
          <p:nvPr/>
        </p:nvSpPr>
        <p:spPr>
          <a:xfrm>
            <a:off x="7680960" y="5532120"/>
            <a:ext cx="3657600" cy="365760"/>
          </a:xfrm>
          <a:prstGeom prst="rect">
            <a:avLst/>
          </a:prstGeom>
          <a:noFill/>
          <a:ln/>
        </p:spPr>
        <p:txBody>
          <a:bodyPr wrap="square" lIns="0" tIns="0" rIns="0" bIns="0" rtlCol="0" anchor="ctr"/>
          <a:lstStyle/>
          <a:p>
            <a:pPr algn="r" indent="0" marL="0">
              <a:buNone/>
            </a:pPr>
            <a:r>
              <a:rPr lang="en-US" sz="1800" dirty="0">
                <a:solidFill>
                  <a:srgbClr val="CFE9FF"/>
                </a:solidFill>
                <a:latin typeface="Calibri" pitchFamily="34" charset="0"/>
                <a:ea typeface="Calibri" pitchFamily="34" charset="-122"/>
                <a:cs typeface="Calibri" pitchFamily="34" charset="-120"/>
              </a:rPr>
              <a:t>KLH  ·  CSIT</a:t>
            </a:r>
            <a:endParaRPr lang="en-US" sz="1800" dirty="0"/>
          </a:p>
        </p:txBody>
      </p:sp>
      <p:sp>
        <p:nvSpPr>
          <p:cNvPr id="25" name="Slide Number Placeholder 0"/>
          <p:cNvSpPr>
            <a:spLocks noGrp="1"/>
          </p:cNvSpPr>
          <p:nvPr>
            <p:ph type="sldNum" sz="quarter" idx="4294967295"/>
          </p:nvPr>
        </p:nvSpPr>
        <p:spPr>
          <a:xfrm>
            <a:off x="11064240" y="6382512"/>
            <a:ext cx="57607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A9B8D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yber Expo">
  <a:themeElements>
    <a:clrScheme name="Cyber Expo">
      <a:dk1>
        <a:srgbClr val="0A1128"/>
      </a:dk1>
      <a:lt1>
        <a:srgbClr val="FFFFFF"/>
      </a:lt1>
      <a:dk2>
        <a:srgbClr val="111B3A"/>
      </a:dk2>
      <a:lt2>
        <a:srgbClr val="A9B8D6"/>
      </a:lt2>
      <a:accent1>
        <a:srgbClr val="00B4FF"/>
      </a:accent1>
      <a:accent2>
        <a:srgbClr val="22C55E"/>
      </a:accent2>
      <a:accent3>
        <a:srgbClr val="F59E0B"/>
      </a:accent3>
      <a:accent4>
        <a:srgbClr val="EF4444"/>
      </a:accent4>
      <a:accent5>
        <a:srgbClr val="1F3C7A"/>
      </a:accent5>
      <a:accent6>
        <a:srgbClr val="16264F"/>
      </a:accent6>
      <a:hlink>
        <a:srgbClr val="00B4FF"/>
      </a:hlink>
      <a:folHlink>
        <a:srgbClr val="A9B8D6"/>
      </a:folHlink>
    </a:clrScheme>
    <a:fontScheme name="Cyber Exp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File Permission Analyzer</dc:title>
  <dc:subject>College Hackathon Expo 2026</dc:subject>
  <dc:creator>Abhishek Yadav K, S Venu Gopal, R ROHIT</dc:creator>
  <cp:lastModifiedBy>Abhishek Yadav K, S Venu Gopal, R ROHIT</cp:lastModifiedBy>
  <cp:revision>1</cp:revision>
  <dcterms:created xsi:type="dcterms:W3CDTF">2026-10-17T05:10:50Z</dcterms:created>
  <dcterms:modified xsi:type="dcterms:W3CDTF">2026-10-17T05:10:50Z</dcterms:modified>
</cp:coreProperties>
</file>